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67" r:id="rId5"/>
    <p:sldId id="268" r:id="rId6"/>
    <p:sldId id="258" r:id="rId7"/>
    <p:sldId id="270" r:id="rId8"/>
    <p:sldId id="259" r:id="rId9"/>
    <p:sldId id="271" r:id="rId10"/>
    <p:sldId id="275" r:id="rId11"/>
    <p:sldId id="263" r:id="rId12"/>
    <p:sldId id="276" r:id="rId13"/>
    <p:sldId id="274" r:id="rId14"/>
    <p:sldId id="272" r:id="rId15"/>
    <p:sldId id="273" r:id="rId16"/>
    <p:sldId id="264" r:id="rId17"/>
    <p:sldId id="278" r:id="rId18"/>
    <p:sldId id="279" r:id="rId19"/>
    <p:sldId id="260" r:id="rId20"/>
    <p:sldId id="26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4A480-2B3D-4255-B9F5-C2E2D861E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AFFAC4-E7E5-4DBC-84DB-3DC309FC6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8B8CB-0AFA-43B4-AB41-1D3CFDCEA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2F4B6-8725-4012-BAD0-2AA2E52628C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1999E-2420-436D-8B12-0607D3E03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AD73E-E895-473D-8C4F-B72EF68BE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D63E-38AC-4980-8D4B-8F20E53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002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E73-4677-424D-8A50-DE2FBA97C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35813-6ED1-4AB7-8C7C-8712DCDD6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D05BF-5EE1-41B4-994C-14DEC5DE8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2F4B6-8725-4012-BAD0-2AA2E52628C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462B3-C7FB-4345-8A97-6CD5C7DF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FD672-9CBE-4075-8142-6781E97F6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D63E-38AC-4980-8D4B-8F20E53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41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848EF-02DE-422E-BA5F-B091BB8FE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C04C4-9F39-4FF4-B87B-D0A143ED7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5A928-0BB6-47CF-8613-EB33E7E31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2F4B6-8725-4012-BAD0-2AA2E52628C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FB894-4487-4704-9A4E-EBB947E77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FA918-96D9-42BE-9F29-1BE3EC22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D63E-38AC-4980-8D4B-8F20E53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64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076AA-3A1F-4DC4-BE2F-EC794C258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53680-36DB-462D-A869-D9F23B982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29F5B-A724-4A5D-A5A6-ACCE573A3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1F2048-74E5-4211-A2F0-2450EE73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2F4B6-8725-4012-BAD0-2AA2E52628C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CB7EE-AE09-44D3-9676-CECBA16B3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E9457-DF4D-487B-8DE5-1DDCE0E51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D63E-38AC-4980-8D4B-8F20E53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46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1EBE8-2CB4-4E05-B09C-62D7B2A81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A8731-71D3-48C8-8138-19430BDB0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67450-FF50-42BB-80F7-07E2CAB67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AF84B8-3C78-4CA4-AF5B-8B7E43BD9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C99C4-E5BE-4BF4-AEFA-B8CB0ADEE5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E3DA41-2C36-4C5E-AF72-8911D9183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2F4B6-8725-4012-BAD0-2AA2E52628C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C5ABB7-7567-4C12-8F67-655E76F62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8B2EE5-C2AB-420B-BC73-AD0468CCE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D63E-38AC-4980-8D4B-8F20E53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944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E281C-24F1-446F-B0C4-6B1722132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265DB-00F0-4CAC-BF4C-594B08C35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2F4B6-8725-4012-BAD0-2AA2E52628C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EE3E51-A553-42F7-B258-148C1ECF8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FCF87-4615-4FD5-97E6-867404DE2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D63E-38AC-4980-8D4B-8F20E53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8A92B6-34B0-4709-989E-58F169812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2F4B6-8725-4012-BAD0-2AA2E52628C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9B969A-1694-4983-B837-48DB95ADE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DC765-7EF3-42B5-B128-302CF0080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D63E-38AC-4980-8D4B-8F20E53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63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F2154-108B-4D67-9CDA-B3BADB179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44B98-4BFC-42FD-AAF5-7A0B8EB7F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862FF-0EBF-4E79-9883-48DE2588C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6E0D5-F591-40F2-8FE8-C30969836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2F4B6-8725-4012-BAD0-2AA2E52628C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AEE9F-05E4-4826-99D7-BA83FACC9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7CCB8-04E8-4573-83B9-25215AC0B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D63E-38AC-4980-8D4B-8F20E53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718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45F71-E3B0-48F3-A524-91ACF3AB0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E06F2E-50F7-46CF-B565-B94CF28333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21D788-69D5-46C2-9BA8-96EBE148A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61AA7-1B98-4644-849D-70EB5F6C7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2F4B6-8725-4012-BAD0-2AA2E52628C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71201-1617-4332-AA2E-9F5C4C64A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7E804-990F-4420-AB33-D0A19AA97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D63E-38AC-4980-8D4B-8F20E53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86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4DC59-8E2D-49F5-9959-1FD32D5E7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D60D0-676D-48F9-8B7E-2C36C9CB7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B1C0F-A609-443C-8C3D-F58A6028C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2F4B6-8725-4012-BAD0-2AA2E52628C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AAF06-4DE0-4986-8C2F-184AD6562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B0997-7002-4458-8C61-1D077A16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D63E-38AC-4980-8D4B-8F20E53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27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7C68E6-BD75-451D-8AC0-ED49F50FA2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AA843-8231-4890-AB51-4747CDF62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BBCB1-A0E8-4456-AEC8-4CBC9E4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2F4B6-8725-4012-BAD0-2AA2E52628C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3D359-2129-4ECA-945F-1D9EC30F4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F878D-65FA-4B8D-AE86-4332F0860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0D63E-38AC-4980-8D4B-8F20E53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44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895EEF-25C1-4798-8495-958409F7F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ACF65-54A4-4E3E-86B5-725A2B7FA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A5D9F-14DB-4504-B137-CE6D24FD6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2F4B6-8725-4012-BAD0-2AA2E52628C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7C5C3-25AF-4C51-8A6E-37FE01468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1E637-EF89-4BA9-A920-428714E50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0D63E-38AC-4980-8D4B-8F20E5381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38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fq.math.ca/Scanned/8-4/read-a.pdf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5FE6F-2980-441D-87C4-0222038091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Universe of Proportions: </a:t>
            </a:r>
            <a:r>
              <a:rPr lang="en-US" sz="4000" dirty="0"/>
              <a:t>Scaling and Ratios in Physics and Beyond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A84F6-DB4D-407E-AA39-F917C40787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Cole Prather</a:t>
            </a:r>
          </a:p>
          <a:p>
            <a:r>
              <a:rPr lang="en-US" dirty="0"/>
              <a:t>November 1, 2023</a:t>
            </a:r>
          </a:p>
        </p:txBody>
      </p:sp>
    </p:spTree>
    <p:extLst>
      <p:ext uri="{BB962C8B-B14F-4D97-AF65-F5344CB8AC3E}">
        <p14:creationId xmlns:p14="http://schemas.microsoft.com/office/powerpoint/2010/main" val="236825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89732-82F9-423A-A1C3-5C7466228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88F16-7BF9-4C76-92E6-59254F242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Analogies</a:t>
            </a:r>
          </a:p>
          <a:p>
            <a:r>
              <a:rPr lang="en-US" dirty="0"/>
              <a:t>Ratios and Proportions</a:t>
            </a:r>
          </a:p>
          <a:p>
            <a:r>
              <a:rPr lang="en-US" dirty="0"/>
              <a:t>Projections</a:t>
            </a:r>
          </a:p>
          <a:p>
            <a:r>
              <a:rPr lang="en-US" dirty="0"/>
              <a:t>Relations and Equations</a:t>
            </a:r>
          </a:p>
          <a:p>
            <a:r>
              <a:rPr lang="en-US" dirty="0"/>
              <a:t>Examples and Insights</a:t>
            </a:r>
          </a:p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352355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6516D-3E8D-3F48-9A02-669AA1C6B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7360C-9510-FF8B-0ACA-24E0C37B1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Observations</a:t>
            </a:r>
          </a:p>
          <a:p>
            <a:r>
              <a:rPr lang="en-US" dirty="0"/>
              <a:t>Ratios and Comparisons of Change </a:t>
            </a:r>
          </a:p>
          <a:p>
            <a:r>
              <a:rPr lang="en-US" dirty="0"/>
              <a:t>Analogies and Inference </a:t>
            </a:r>
          </a:p>
          <a:p>
            <a:r>
              <a:rPr lang="en-US" dirty="0"/>
              <a:t>Cognition and Compartmentalization</a:t>
            </a:r>
          </a:p>
          <a:p>
            <a:r>
              <a:rPr lang="en-US" dirty="0"/>
              <a:t>Natural Philosophy</a:t>
            </a:r>
          </a:p>
          <a:p>
            <a:r>
              <a:rPr lang="en-US" dirty="0"/>
              <a:t>Physics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545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18C4-8FCC-459E-98B5-60224672B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0F6FE-4AC1-4C36-8513-454EFA28D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Comparison between two forms that may share a property</a:t>
            </a:r>
          </a:p>
          <a:p>
            <a:pPr lvl="1"/>
            <a:r>
              <a:rPr lang="en-US" dirty="0"/>
              <a:t>At the core of cognition</a:t>
            </a:r>
          </a:p>
          <a:p>
            <a:r>
              <a:rPr lang="en-US" dirty="0"/>
              <a:t>Logical inference rather than abduction, induction, or deduction</a:t>
            </a:r>
          </a:p>
          <a:p>
            <a:r>
              <a:rPr lang="en-US" dirty="0"/>
              <a:t>The word “analogy” comes from the Latin “analogia” and originates from the Greek word for proportion, </a:t>
            </a:r>
            <a:r>
              <a:rPr lang="el-GR" dirty="0"/>
              <a:t>ἀναλογία</a:t>
            </a:r>
            <a:endParaRPr lang="en-US" dirty="0"/>
          </a:p>
          <a:p>
            <a:r>
              <a:rPr lang="en-US" dirty="0"/>
              <a:t>Logic: A is to B as C is to D</a:t>
            </a:r>
          </a:p>
          <a:p>
            <a:pPr lvl="1"/>
            <a:r>
              <a:rPr lang="en-US" dirty="0"/>
              <a:t>A:B = C:D or A:B::C:D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184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1F20B5-39CB-2F48-6BCA-C05D89FDDA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1126" y="535867"/>
            <a:ext cx="7569748" cy="578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630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C64E8-6283-4756-A1AC-E9BCD3167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 and Proportions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09B933-06D5-4E5E-BF0C-4EB7FC90A3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ratio is the comparison of, or relationship between, two values</a:t>
                </a:r>
              </a:p>
              <a:p>
                <a:r>
                  <a:rPr lang="en-US" dirty="0"/>
                  <a:t>A ratio is a proportion, and a proportionality is the equality of ratios</a:t>
                </a:r>
              </a:p>
              <a:p>
                <a:r>
                  <a:rPr lang="en-US" dirty="0"/>
                  <a:t>Rational – Ratio (Reason) [or computation/reckoning]</a:t>
                </a:r>
              </a:p>
              <a:p>
                <a:r>
                  <a:rPr lang="en-US" dirty="0"/>
                  <a:t>The ratio A:B is proportional to the ratio C:D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09B933-06D5-4E5E-BF0C-4EB7FC90A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1493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5ACFD-E8BB-769A-5539-0FF83EE52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814CF-663C-55E9-C3A0-087B359A4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two similar right triangles</a:t>
            </a:r>
          </a:p>
          <a:p>
            <a:r>
              <a:rPr lang="en-US" dirty="0"/>
              <a:t>The lengths of their sides are different, and angles are same</a:t>
            </a:r>
          </a:p>
          <a:p>
            <a:r>
              <a:rPr lang="en-US" dirty="0"/>
              <a:t>The ratio of the lengths of their respective sides is proportional</a:t>
            </a:r>
          </a:p>
          <a:p>
            <a:r>
              <a:rPr lang="en-US" dirty="0"/>
              <a:t>Some aspect of the angle is proportional to these ratios</a:t>
            </a:r>
          </a:p>
          <a:p>
            <a:r>
              <a:rPr lang="en-US" dirty="0"/>
              <a:t>Sine, Cosine, Tangent</a:t>
            </a:r>
          </a:p>
          <a:p>
            <a:r>
              <a:rPr lang="en-US" dirty="0"/>
              <a:t>Sine is the opposite or perpendicular proportion (projection)</a:t>
            </a:r>
          </a:p>
          <a:p>
            <a:r>
              <a:rPr lang="en-US" dirty="0"/>
              <a:t>Cosine is the adjacent or parallel proportion (projection)</a:t>
            </a:r>
          </a:p>
          <a:p>
            <a:r>
              <a:rPr lang="en-US" dirty="0"/>
              <a:t>Tangent is the ratio of these proportions!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942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5BE32-9612-44E9-907D-8F54AC14B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E02C31-A6B4-41B7-9651-A07296F3BB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Ratios of lengths of triangle sides </a:t>
                </a:r>
              </a:p>
              <a:p>
                <a:pPr lvl="1"/>
                <a:r>
                  <a:rPr lang="en-US" dirty="0"/>
                  <a:t>Plimpton 322 – Babylon ~1800 BC</a:t>
                </a:r>
              </a:p>
              <a:p>
                <a:r>
                  <a:rPr lang="en-US" dirty="0" err="1"/>
                  <a:t>Seked</a:t>
                </a:r>
                <a:r>
                  <a:rPr lang="en-US" dirty="0"/>
                  <a:t> – Slope </a:t>
                </a:r>
              </a:p>
              <a:p>
                <a:pPr lvl="1"/>
                <a:r>
                  <a:rPr lang="en-US" dirty="0"/>
                  <a:t>Rhind Papyrus - Egypt ~1550 BC</a:t>
                </a:r>
              </a:p>
              <a:p>
                <a:pPr lvl="1"/>
                <a:r>
                  <a:rPr lang="en-US" dirty="0"/>
                  <a:t>Estimated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as 256/81</a:t>
                </a:r>
              </a:p>
              <a:p>
                <a:r>
                  <a:rPr lang="en-US" dirty="0"/>
                  <a:t>Sun projects a shadow of a figure</a:t>
                </a:r>
              </a:p>
              <a:p>
                <a:pPr lvl="1"/>
                <a:r>
                  <a:rPr lang="en-US" dirty="0"/>
                  <a:t>Sundial ~1500 BC</a:t>
                </a:r>
              </a:p>
              <a:p>
                <a:r>
                  <a:rPr lang="en-US" dirty="0"/>
                  <a:t>Theory of Proportions </a:t>
                </a:r>
              </a:p>
              <a:p>
                <a:pPr lvl="1"/>
                <a:r>
                  <a:rPr lang="en-US" dirty="0"/>
                  <a:t>Pythagoras ~500 BC </a:t>
                </a:r>
                <a:r>
                  <a:rPr lang="en-US" sz="1300" dirty="0"/>
                  <a:t>(RIP </a:t>
                </a:r>
                <a:r>
                  <a:rPr lang="en-US" sz="1300" dirty="0" err="1"/>
                  <a:t>Hippasus</a:t>
                </a:r>
                <a:r>
                  <a:rPr lang="en-US" sz="1300" dirty="0"/>
                  <a:t> of Metapontum) </a:t>
                </a:r>
                <a:endParaRPr lang="en-US" dirty="0"/>
              </a:p>
              <a:p>
                <a:r>
                  <a:rPr lang="en-US" dirty="0"/>
                  <a:t>Sine, Cosine, and Tangent (Tables)</a:t>
                </a:r>
              </a:p>
              <a:p>
                <a:pPr lvl="1"/>
                <a:r>
                  <a:rPr lang="en-US" dirty="0"/>
                  <a:t>Al-Khwarizmi ~9</a:t>
                </a:r>
                <a:r>
                  <a:rPr lang="en-US" baseline="30000" dirty="0"/>
                  <a:t>th</a:t>
                </a:r>
                <a:r>
                  <a:rPr lang="en-US" dirty="0"/>
                  <a:t> century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E02C31-A6B4-41B7-9651-A07296F3BB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3576512-AC2C-BCBD-9EA1-7A787C305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444" y="0"/>
            <a:ext cx="54915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81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CCBB0-B52D-C6A7-E33D-97D66A29B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 and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30888-E961-3588-4A63-252B63FC4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Proportions -&gt; Relations -&gt; Equations </a:t>
            </a:r>
          </a:p>
          <a:p>
            <a:r>
              <a:rPr lang="en-US" dirty="0"/>
              <a:t>But wait, not everything scales linearly!</a:t>
            </a:r>
          </a:p>
          <a:p>
            <a:r>
              <a:rPr lang="en-US" dirty="0"/>
              <a:t>Consider a bunch of little triangles/slopes.. (differentials!)</a:t>
            </a:r>
          </a:p>
          <a:p>
            <a:r>
              <a:rPr lang="en-US" dirty="0"/>
              <a:t>Some values scale as a ratio of ratios</a:t>
            </a:r>
          </a:p>
          <a:p>
            <a:r>
              <a:rPr lang="en-US" dirty="0"/>
              <a:t>The tangent function is a ratio of ratios!</a:t>
            </a:r>
          </a:p>
          <a:p>
            <a:r>
              <a:rPr lang="en-US" dirty="0"/>
              <a:t>Equations are essentially complex rational proportionalities </a:t>
            </a:r>
          </a:p>
          <a:p>
            <a:pPr lvl="1"/>
            <a:r>
              <a:rPr lang="en-US" dirty="0"/>
              <a:t>(and are approximations!)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033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2DD9A-16DF-481E-BB18-AD533DCC9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Ratios and Proportions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B7741-21A7-4CC8-9926-78CC190FF2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Pi (ratio of the circumference of a circle to its diameter)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Original units of time and length</a:t>
                </a:r>
              </a:p>
              <a:p>
                <a:pPr lvl="1"/>
                <a:r>
                  <a:rPr lang="en-US" dirty="0"/>
                  <a:t>1/86,400 of a mean solar day, 1/10,000,000 distance from equator to NP</a:t>
                </a:r>
              </a:p>
              <a:p>
                <a:r>
                  <a:rPr lang="en-US" dirty="0"/>
                  <a:t>Pythagorean Tuning (Perfect Fifths)</a:t>
                </a:r>
              </a:p>
              <a:p>
                <a:pPr lvl="1"/>
                <a:r>
                  <a:rPr lang="en-US" dirty="0"/>
                  <a:t>3:2</a:t>
                </a:r>
              </a:p>
              <a:p>
                <a:r>
                  <a:rPr lang="en-US" dirty="0"/>
                  <a:t>Archimedes Principle </a:t>
                </a:r>
                <a:r>
                  <a:rPr lang="en-US" sz="22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𝑓𝑙𝑢𝑖𝑑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Fraction Submerged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𝑠𝑢𝑏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𝑜𝑏𝑗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𝑜𝑏𝑗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𝑓𝑙𝑢𝑖𝑑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Unknown object density experiment: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Center of Mass/Gravity (Homogenous Materials)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Mechanical Advantage (Simple Machines)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B7741-21A7-4CC8-9926-78CC190FF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7753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2DD9A-16DF-481E-BB18-AD533DCC9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Ratios and Proportions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B7741-21A7-4CC8-9926-78CC190FF2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Kepler’s Third Law (Law of Harmonies)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Pascal’s Principle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Newton’s Second Law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Kinetic Energy and Velocity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𝑠𝑎𝑚𝑒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𝑚𝑎𝑠𝑠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Energy and Efficiency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𝐾𝐸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𝑃𝐸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Angular Speed and Torque (Gear Ratio)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Τ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Τ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B7741-21A7-4CC8-9926-78CC190FF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405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2DD9A-16DF-481E-BB18-AD533DCC9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Ratios and Proportions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B7741-21A7-4CC8-9926-78CC190FF2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Gas Laws</a:t>
                </a:r>
              </a:p>
              <a:p>
                <a:r>
                  <a:rPr lang="en-US" dirty="0"/>
                  <a:t>Relative Humidity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%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𝑣𝑎𝑝𝑜𝑟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𝑑𝑒𝑛𝑠𝑖𝑡𝑦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𝑠𝑎𝑡𝑢𝑟𝑎𝑡𝑖𝑜𝑛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𝑣𝑎𝑝𝑜𝑟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𝑑𝑒𝑛𝑠𝑖𝑡𝑦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×100%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Specific Heat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Decibel Scale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Β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endParaRPr lang="en-US" b="0" dirty="0"/>
              </a:p>
              <a:p>
                <a:r>
                  <a:rPr lang="en-US" dirty="0"/>
                  <a:t>The Doppler Effect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±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B7741-21A7-4CC8-9926-78CC190FF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7539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2DD9A-16DF-481E-BB18-AD533DCC9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Ratios and Proportions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B7741-21A7-4CC8-9926-78CC190FF2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Inclined Plane Problems (Ratio of weight parallel and perpendicular to plane)</a:t>
                </a:r>
              </a:p>
              <a:p>
                <a:r>
                  <a:rPr lang="en-US" dirty="0"/>
                  <a:t>Simple Collision Problems (Conservation of Momentum)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Simple Tension Equilibrium Problems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func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Gravitational Force and Electric Force Equilibrium Problems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𝑞𝐸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𝑚𝑔</m:t>
                            </m:r>
                          </m:den>
                        </m:f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Electrical Resistance (Ohmic), Conductivity, and Resistivity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acc>
                      </m:num>
                      <m:den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b="0" dirty="0"/>
                  <a:t> (resistance change via expanded wire length, constant volume)</a:t>
                </a:r>
              </a:p>
              <a:p>
                <a:r>
                  <a:rPr lang="en-US" dirty="0"/>
                  <a:t>Charged Particles Moving Through Magnetic Field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func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func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Fick’s Law (Diffusion flux is proportional to the diffusion coefficient and the concentration gradient)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B7741-21A7-4CC8-9926-78CC190FF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1049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2DD9A-16DF-481E-BB18-AD533DCC9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Ratios in Physics (Constants &amp; Coefficients)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B7741-21A7-4CC8-9926-78CC190FF2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Speed of Light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Friction Problems (Coefficient of Friction)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𝑟𝑔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Collision/Fluid Flow Problems (Coefficient of Restitution/)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Optics (Index of Refraction)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func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Springs (Stiffness Coefficient)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Dampeners (Dampening Coefficient)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Dielectric Constant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B7741-21A7-4CC8-9926-78CC190FF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7670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2DD9A-16DF-481E-BB18-AD533DCC9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Ratios in Physics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B7741-21A7-4CC8-9926-78CC190FF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Electric Field Strength Proportional to Charge or Field Line Density </a:t>
            </a:r>
          </a:p>
          <a:p>
            <a:r>
              <a:rPr lang="en-US" dirty="0"/>
              <a:t>System Stability</a:t>
            </a:r>
          </a:p>
          <a:p>
            <a:r>
              <a:rPr lang="en-US" dirty="0"/>
              <a:t>Convergence and Divergence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224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452AB-D06D-4CAE-B801-6DFF608C3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Ratios Beyond Physics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106F2-0D10-4ABD-84A8-ACF5142DF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Statistics:</a:t>
            </a:r>
          </a:p>
          <a:p>
            <a:pPr lvl="1"/>
            <a:r>
              <a:rPr lang="en-US" dirty="0"/>
              <a:t>% Error and % Difference</a:t>
            </a:r>
          </a:p>
          <a:p>
            <a:r>
              <a:rPr lang="en-US" dirty="0"/>
              <a:t>Mathematics:</a:t>
            </a:r>
          </a:p>
          <a:p>
            <a:pPr lvl="1"/>
            <a:r>
              <a:rPr lang="en-US" dirty="0"/>
              <a:t>Golden Ratio</a:t>
            </a:r>
          </a:p>
          <a:p>
            <a:pPr lvl="1"/>
            <a:r>
              <a:rPr lang="en-US" dirty="0"/>
              <a:t>Fibonacci Sequence</a:t>
            </a:r>
          </a:p>
          <a:p>
            <a:pPr lvl="1"/>
            <a:r>
              <a:rPr lang="en-US" dirty="0"/>
              <a:t>Distance of Planets </a:t>
            </a:r>
          </a:p>
          <a:p>
            <a:pPr lvl="2"/>
            <a:r>
              <a:rPr lang="en-US" sz="1400" dirty="0">
                <a:hlinkClick r:id="rId2"/>
              </a:rPr>
              <a:t>https://www.fq.math.ca/Scanned/8-4/read-a.pdf</a:t>
            </a:r>
            <a:endParaRPr lang="en-US" sz="1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B5D3A5-EE3B-DB97-52DA-3B023F293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3200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262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9376D33-5E7B-4337-9259-15AB77E003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652" y="3724325"/>
            <a:ext cx="3173349" cy="24674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B5D3A5-EE3B-DB97-52DA-3B023F293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582" y="666234"/>
            <a:ext cx="4436599" cy="55255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8BB20E-D3A0-4337-A24F-040C524D8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515459" y="2195279"/>
            <a:ext cx="3872665" cy="24674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AA5E42-AC12-44C4-A85F-B9186D2EE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652" y="666234"/>
            <a:ext cx="3173005" cy="216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34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452AB-D06D-4CAE-B801-6DFF608C3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Ratios Beyond Physics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106F2-0D10-4ABD-84A8-ACF5142DF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Biology:</a:t>
            </a:r>
          </a:p>
          <a:p>
            <a:pPr lvl="1"/>
            <a:r>
              <a:rPr lang="en-US" dirty="0"/>
              <a:t>Genetic Ratios (Mendel’s Law of Segregation)</a:t>
            </a:r>
          </a:p>
          <a:p>
            <a:pPr lvl="1"/>
            <a:r>
              <a:rPr lang="en-US" dirty="0"/>
              <a:t>Convergent Evolution</a:t>
            </a:r>
          </a:p>
          <a:p>
            <a:pPr lvl="1"/>
            <a:r>
              <a:rPr lang="en-US" dirty="0"/>
              <a:t>Surface Area to Volume Ratio</a:t>
            </a:r>
          </a:p>
          <a:p>
            <a:pPr lvl="1"/>
            <a:r>
              <a:rPr lang="en-US" dirty="0"/>
              <a:t>Population Growth</a:t>
            </a:r>
          </a:p>
          <a:p>
            <a:pPr lvl="1"/>
            <a:r>
              <a:rPr lang="en-US" dirty="0"/>
              <a:t>Photosynthesis and Light Intensity</a:t>
            </a:r>
          </a:p>
          <a:p>
            <a:r>
              <a:rPr lang="en-US" dirty="0"/>
              <a:t>Chemistry:</a:t>
            </a:r>
          </a:p>
          <a:p>
            <a:pPr lvl="1"/>
            <a:r>
              <a:rPr lang="en-US" dirty="0"/>
              <a:t>Gas Laws</a:t>
            </a:r>
          </a:p>
          <a:p>
            <a:pPr lvl="1"/>
            <a:r>
              <a:rPr lang="en-US" dirty="0"/>
              <a:t>Stoichiometry (ratios of reactants and products)</a:t>
            </a:r>
          </a:p>
          <a:p>
            <a:pPr lvl="1"/>
            <a:r>
              <a:rPr lang="en-US" dirty="0"/>
              <a:t>Reaction rate and concentration (rate proportional to concentration)</a:t>
            </a:r>
          </a:p>
          <a:p>
            <a:pPr lvl="1"/>
            <a:r>
              <a:rPr lang="en-US" dirty="0"/>
              <a:t>Molar mass ratios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83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38FFE-33BD-4B3D-B47E-E82105747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BBE48-C8CF-40EC-8224-78E193AD4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Anything can be expressed as a ratio so long as the compared objects/parameters are dimensionally equivalent </a:t>
            </a:r>
          </a:p>
          <a:p>
            <a:r>
              <a:rPr lang="en-US" dirty="0"/>
              <a:t>Ratios are easy to create, proportionalities are difficult to establish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1F36EF-5675-93A4-DE9C-FE3117F9A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981" y="3369385"/>
            <a:ext cx="5634037" cy="312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6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5D3E-413A-4BDB-9461-263B3DD6D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				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5CC813-1D21-D6EF-0F41-8149B235A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0" y="1581729"/>
            <a:ext cx="8458200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841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882</Words>
  <Application>Microsoft Office PowerPoint</Application>
  <PresentationFormat>Widescreen</PresentationFormat>
  <Paragraphs>160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Office Theme</vt:lpstr>
      <vt:lpstr>A Universe of Proportions: Scaling and Ratios in Physics and Beyond</vt:lpstr>
      <vt:lpstr>Outline</vt:lpstr>
      <vt:lpstr>Introduction</vt:lpstr>
      <vt:lpstr>Analogies</vt:lpstr>
      <vt:lpstr>PowerPoint Presentation</vt:lpstr>
      <vt:lpstr>Ratio and Proportions</vt:lpstr>
      <vt:lpstr>Geometry</vt:lpstr>
      <vt:lpstr>Projections</vt:lpstr>
      <vt:lpstr>Relations and Equations</vt:lpstr>
      <vt:lpstr>Examples of Ratios and Proportions</vt:lpstr>
      <vt:lpstr>Examples of Ratios and Proportions</vt:lpstr>
      <vt:lpstr>Examples of Ratios and Proportions</vt:lpstr>
      <vt:lpstr>Examples of Ratios and Proportions</vt:lpstr>
      <vt:lpstr>Ratios in Physics (Constants &amp; Coefficients)</vt:lpstr>
      <vt:lpstr>Ratios in Physics</vt:lpstr>
      <vt:lpstr>Ratios Beyond Physics</vt:lpstr>
      <vt:lpstr>PowerPoint Presentation</vt:lpstr>
      <vt:lpstr>Ratios Beyond Physics</vt:lpstr>
      <vt:lpstr>Summary</vt:lpstr>
      <vt:lpstr>Questions?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Universe of Proportions: Scaling and Ratios in Physics and Beyond</dc:title>
  <dc:creator>Cole Prather</dc:creator>
  <cp:lastModifiedBy>Cole Prather</cp:lastModifiedBy>
  <cp:revision>221</cp:revision>
  <dcterms:created xsi:type="dcterms:W3CDTF">2023-10-29T20:24:32Z</dcterms:created>
  <dcterms:modified xsi:type="dcterms:W3CDTF">2025-04-27T07:23:28Z</dcterms:modified>
</cp:coreProperties>
</file>