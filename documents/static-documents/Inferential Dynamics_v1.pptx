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9" r:id="rId5"/>
    <p:sldId id="259" r:id="rId6"/>
    <p:sldId id="281" r:id="rId7"/>
    <p:sldId id="292" r:id="rId8"/>
    <p:sldId id="293" r:id="rId9"/>
    <p:sldId id="294" r:id="rId10"/>
    <p:sldId id="290" r:id="rId11"/>
    <p:sldId id="286" r:id="rId12"/>
    <p:sldId id="296" r:id="rId13"/>
    <p:sldId id="278" r:id="rId14"/>
    <p:sldId id="272" r:id="rId15"/>
    <p:sldId id="291" r:id="rId16"/>
    <p:sldId id="270" r:id="rId17"/>
    <p:sldId id="260" r:id="rId18"/>
    <p:sldId id="265" r:id="rId19"/>
    <p:sldId id="274" r:id="rId20"/>
    <p:sldId id="261" r:id="rId21"/>
    <p:sldId id="299" r:id="rId22"/>
    <p:sldId id="298" r:id="rId23"/>
    <p:sldId id="262" r:id="rId24"/>
    <p:sldId id="263" r:id="rId25"/>
    <p:sldId id="275" r:id="rId26"/>
    <p:sldId id="264" r:id="rId27"/>
    <p:sldId id="300" r:id="rId28"/>
    <p:sldId id="266" r:id="rId29"/>
    <p:sldId id="267" r:id="rId30"/>
    <p:sldId id="26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2479A-BE6B-B0A6-60FA-4532CE77B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A5E8D8-3403-7D95-4EFE-948A24094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38652-8116-71E0-7F79-88F43AC9E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2EF5D-A9B6-3FD9-DE78-7D3E00AC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49F60-7170-4D54-A676-A711702F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13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AEA8-30D2-16A5-1D54-58DAD26A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289B7-5C5A-8C79-62C3-FA4D30E3E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FD202-C1EF-5630-91EC-E001CF0C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F91DC-C55B-CC9B-B6D5-42EBD1B12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E881A-EB3E-54F4-758D-CDD73C2E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92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6E011-5030-BB5A-F714-911553D9A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DC7AA-B316-E9C7-001A-D028C91ED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C1D12-28E9-B48B-9B64-848F1CC83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7349B-1D52-372F-1B1C-E61A53B33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B2C84-20DA-965F-17AC-7FC04CABD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4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DE69-3D6D-EDFC-3297-4BB438E8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FAE0D-222E-C6F8-A07E-B9EF321C3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962DA-09EF-9FFC-C65F-A7A1081DF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015DD-D2C7-F767-A4C7-E039DF6E2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6CAD0-167C-07B4-0A69-65CAADF32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0348D-7B18-73AB-FBD1-3FAB2A3D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1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EC3EE-CCFC-E601-4A85-725326091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72F73-FEE4-7D6C-195B-793155C9B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DD824-AAEF-249D-F13A-64FA3C6C3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55912-0AE0-5C4E-4728-D65BB7828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3C1044-D0CA-B717-E09A-9E23B3953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DB08F8-6F61-921F-CA6B-8BBEC4DA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9A3724-D4D9-EE0B-AB15-A4E68E9AE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5221EE-64D8-1C2C-589A-64B4457C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E3A2-4044-3384-9748-48C96C27C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4F8A8C-BCEF-E2A4-7835-562E8F8F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58DBC-1C9F-0AA9-4698-A5C02449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23A6D-F73D-3456-07D3-EEC7D371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3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9B265-2240-5A14-6199-0BA33A49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1470ED-7B54-DA05-06F3-336606B7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B932D-9DA9-5CFC-7F29-C8B461EA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53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ED78A-4BAE-2D5C-9E39-08E1F924E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3468F-5F30-BA8C-C9EA-DA6A64B8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43663-BCA3-E1D5-D2FF-BA5592B4E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EF43B-1EAD-2A99-E634-05C3BFBA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60B74-01DA-B665-C342-A39A5CD9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C0A5E-521F-9C1D-0220-ACB037F58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7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0FA7B-3167-BC0A-8841-880CC657F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BA024D-A5C5-444D-9DE1-4E517AE0D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37D83-FA44-B6F2-617A-861199FF0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4A776-59B7-8C9E-4F23-8B14E74B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CD322-5294-C095-D278-1864D116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7468C-8C94-1D5A-6B7A-38899452A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76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3D15-1D6C-2CA9-FE56-7C37C33DC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811D1-2884-E023-8A7E-FAB4CB8BA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DB2B5-D02D-1931-4EC1-4E0873BC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D8C72-C5FC-E1CE-ECFA-717C8317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5F84D-296D-0754-9714-396F1BBB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93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26376B-41D3-FB8E-0F53-11CE51C3E4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E3EA7-01D1-E92F-E6E2-EBA3C54B8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1D704-B8F3-443A-9230-D0939EEF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0D276-E127-F13A-91BC-AAFD1D0E7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50A90-95EA-C31C-5FC2-30A961FB9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64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F4645-033D-9B13-3DC0-B6B36B4D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DA1BE-A99A-487F-1B51-A9D873871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B059D-4F00-FCBF-2C98-4703343CCF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AF4BA-063B-467C-9C18-CE01880B87FD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32563-1976-A3F7-7DE8-6B5A9FBAD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D0DA0-8131-F1CF-C624-2FE92A423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1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EBB0A-A1F6-0ABB-0B91-C248F69A6C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Inferential Dynamics</a:t>
            </a:r>
            <a:br>
              <a:rPr lang="en-US" sz="7200" dirty="0"/>
            </a:br>
            <a:r>
              <a:rPr lang="en-US" sz="4400" dirty="0"/>
              <a:t>Truth as a Stable Attractor of Reason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04A364-5EEB-540A-2577-25D7B238B3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2800" dirty="0"/>
              <a:t>By: Mr. Cole Prather</a:t>
            </a:r>
          </a:p>
          <a:p>
            <a:r>
              <a:rPr lang="en-US" sz="2800" dirty="0"/>
              <a:t>Oct 7</a:t>
            </a:r>
            <a:r>
              <a:rPr lang="en-US" sz="2800" baseline="30000" dirty="0"/>
              <a:t>th</a:t>
            </a:r>
            <a:r>
              <a:rPr lang="en-US" sz="2800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318280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0BAA1-CF91-BDA3-C645-6E2225D1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959D5-861A-92CC-E59F-5A104F774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Motion, Stability, and Feedback</a:t>
            </a:r>
          </a:p>
          <a:p>
            <a:r>
              <a:rPr lang="en-US" dirty="0"/>
              <a:t>Examples of Feedback Systems</a:t>
            </a:r>
          </a:p>
          <a:p>
            <a:r>
              <a:rPr lang="en-US" dirty="0"/>
              <a:t>Language of Stability</a:t>
            </a:r>
          </a:p>
          <a:p>
            <a:r>
              <a:rPr lang="en-US" dirty="0"/>
              <a:t>Mathematics of Stability</a:t>
            </a:r>
          </a:p>
          <a:p>
            <a:r>
              <a:rPr lang="en-US" dirty="0"/>
              <a:t>Visualizing Stability</a:t>
            </a:r>
          </a:p>
          <a:p>
            <a:r>
              <a:rPr lang="en-US" dirty="0"/>
              <a:t>Forms of Motion and Modes of Inference</a:t>
            </a:r>
          </a:p>
          <a:p>
            <a:r>
              <a:rPr lang="en-US" dirty="0"/>
              <a:t>Inference as a Dynamical System </a:t>
            </a:r>
          </a:p>
          <a:p>
            <a:r>
              <a:rPr lang="en-US" dirty="0"/>
              <a:t>Truth as a Stable Attractor</a:t>
            </a:r>
          </a:p>
          <a:p>
            <a:r>
              <a:rPr lang="en-US" dirty="0"/>
              <a:t>Comparing Modes of Inferences</a:t>
            </a:r>
          </a:p>
          <a:p>
            <a:r>
              <a:rPr lang="en-US" dirty="0"/>
              <a:t>Lines of Reasoning and Critical Path</a:t>
            </a:r>
          </a:p>
          <a:p>
            <a:r>
              <a:rPr lang="en-US" dirty="0"/>
              <a:t>Summary and Conclusion</a:t>
            </a:r>
          </a:p>
          <a:p>
            <a:r>
              <a:rPr lang="en-US" dirty="0"/>
              <a:t>Discussion and Questions</a:t>
            </a:r>
          </a:p>
        </p:txBody>
      </p:sp>
    </p:spTree>
    <p:extLst>
      <p:ext uri="{BB962C8B-B14F-4D97-AF65-F5344CB8AC3E}">
        <p14:creationId xmlns:p14="http://schemas.microsoft.com/office/powerpoint/2010/main" val="3242721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7B14-3A55-8315-4863-3D68FD55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28ED3-E105-BA61-4DC9-A4C2D80B9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“Since nature is a principle of </a:t>
            </a:r>
            <a:r>
              <a:rPr lang="en-US" sz="3200" i="1" dirty="0"/>
              <a:t>motion and change</a:t>
            </a:r>
            <a:r>
              <a:rPr lang="en-US" sz="3200" dirty="0"/>
              <a:t>, and since our inquiry is about nature, we must not overlook the question of what motion is. For without understanding motion, we could not understand nature.” – </a:t>
            </a:r>
            <a:r>
              <a:rPr lang="en-US" sz="3200" b="1" dirty="0"/>
              <a:t>Aristotle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62397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44EF-9B31-BC7E-39E4-DBF0FAC13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2844-55FB-FBDD-0BA2-FA37AF48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4F0E4-82F0-2766-F11B-081657B87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Question:</a:t>
            </a:r>
          </a:p>
          <a:p>
            <a:pPr marL="0" indent="0">
              <a:buNone/>
            </a:pPr>
            <a:r>
              <a:rPr lang="en-US" dirty="0"/>
              <a:t>Why do some motions settle down, while others escalate, and some just continue as they are?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Aristotle: Constant Force = Constant Motion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Galileo: Constant Force = Constant Acceleration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Forces are not needed to maintain motion, only to change it.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F89F7F-AF65-E45E-2243-A1B2FC2BFE28}"/>
              </a:ext>
            </a:extLst>
          </p:cNvPr>
          <p:cNvCxnSpPr>
            <a:cxnSpLocks/>
          </p:cNvCxnSpPr>
          <p:nvPr/>
        </p:nvCxnSpPr>
        <p:spPr>
          <a:xfrm>
            <a:off x="1012371" y="3494315"/>
            <a:ext cx="6979297" cy="72312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3E31E2-C715-AF82-E325-2A739C94D241}"/>
              </a:ext>
            </a:extLst>
          </p:cNvPr>
          <p:cNvCxnSpPr>
            <a:cxnSpLocks/>
          </p:cNvCxnSpPr>
          <p:nvPr/>
        </p:nvCxnSpPr>
        <p:spPr>
          <a:xfrm flipV="1">
            <a:off x="1012371" y="3494315"/>
            <a:ext cx="6913983" cy="72312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0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317C3-7D5B-F012-8B4F-9503A0A4D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1109B-474A-6F44-B950-50325F882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57727" cy="4351338"/>
          </a:xfrm>
        </p:spPr>
        <p:txBody>
          <a:bodyPr>
            <a:normAutofit/>
          </a:bodyPr>
          <a:lstStyle/>
          <a:p>
            <a:r>
              <a:rPr lang="en-US" dirty="0"/>
              <a:t>No forces = no change in motion (equilibrium)</a:t>
            </a:r>
          </a:p>
          <a:p>
            <a:pPr lvl="1"/>
            <a:r>
              <a:rPr lang="en-US" dirty="0"/>
              <a:t>Static vs Dynamic Equilibrium</a:t>
            </a:r>
          </a:p>
          <a:p>
            <a:r>
              <a:rPr lang="en-US" dirty="0"/>
              <a:t>Forces cause change, and require energy</a:t>
            </a:r>
          </a:p>
          <a:p>
            <a:r>
              <a:rPr lang="en-US" dirty="0"/>
              <a:t>Systems often tend toward low energy states</a:t>
            </a:r>
          </a:p>
          <a:p>
            <a:r>
              <a:rPr lang="en-US" dirty="0"/>
              <a:t>Some systems can achieve other bounded states given enough energy, and others spiral out of control</a:t>
            </a:r>
          </a:p>
          <a:p>
            <a:r>
              <a:rPr lang="en-US" dirty="0"/>
              <a:t>Stability is the </a:t>
            </a:r>
            <a:r>
              <a:rPr lang="en-US" i="1" dirty="0"/>
              <a:t>tendency</a:t>
            </a:r>
            <a:r>
              <a:rPr lang="en-US" dirty="0"/>
              <a:t> toward equilibrium </a:t>
            </a:r>
          </a:p>
          <a:p>
            <a:r>
              <a:rPr lang="en-US" dirty="0"/>
              <a:t>Feedback </a:t>
            </a:r>
            <a:r>
              <a:rPr lang="en-US" i="1" dirty="0"/>
              <a:t>adjusts</a:t>
            </a:r>
            <a:r>
              <a:rPr lang="en-US" dirty="0"/>
              <a:t> motion based on error</a:t>
            </a:r>
          </a:p>
        </p:txBody>
      </p:sp>
    </p:spTree>
    <p:extLst>
      <p:ext uri="{BB962C8B-B14F-4D97-AF65-F5344CB8AC3E}">
        <p14:creationId xmlns:p14="http://schemas.microsoft.com/office/powerpoint/2010/main" val="3118123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DC5D9-065B-E77E-6662-21949635A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985027-8EC1-18D9-A5FE-534DC7E34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900" y="3583073"/>
            <a:ext cx="5114925" cy="28771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5A6993-5B10-C694-E0A6-0FC946DBC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E237B-1710-45AE-9E5E-F9FD3AEA4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577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Types of Feedback:</a:t>
            </a:r>
          </a:p>
          <a:p>
            <a:r>
              <a:rPr lang="en-US" dirty="0"/>
              <a:t>Stable – Convergent – Negative Feedback</a:t>
            </a:r>
          </a:p>
          <a:p>
            <a:r>
              <a:rPr lang="en-US" dirty="0"/>
              <a:t>Unstable – Divergent – Positive Feedback  </a:t>
            </a:r>
          </a:p>
          <a:p>
            <a:r>
              <a:rPr lang="en-US" dirty="0"/>
              <a:t>Neutral – Oscillating – Neutral Feedback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FDD60-D39E-C727-6F80-D374173E7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47" y="4567833"/>
            <a:ext cx="5205409" cy="132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6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33BC6-595D-C89A-9274-506EB01D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681BE-493B-1995-C438-26C92CD4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Feedback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EF563-C225-35B7-584C-81336233F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Convergent Systems:</a:t>
            </a:r>
          </a:p>
          <a:p>
            <a:r>
              <a:rPr lang="en-US" dirty="0"/>
              <a:t>Suspension systems, spring-mass-damper</a:t>
            </a:r>
          </a:p>
          <a:p>
            <a:r>
              <a:rPr lang="en-US" dirty="0"/>
              <a:t>PID-controlled actuators, negative feedback amplifiers</a:t>
            </a:r>
          </a:p>
          <a:p>
            <a:r>
              <a:rPr lang="en-US" dirty="0"/>
              <a:t>Planetary orbits (energy wells), Lagrange points (local minima)</a:t>
            </a:r>
          </a:p>
          <a:p>
            <a:r>
              <a:rPr lang="en-US" dirty="0"/>
              <a:t>*Hopfield networks and Boltzmann machines</a:t>
            </a:r>
          </a:p>
          <a:p>
            <a:r>
              <a:rPr lang="en-US" dirty="0"/>
              <a:t>Neural networks, pattern recognition, and machine learning</a:t>
            </a:r>
          </a:p>
          <a:p>
            <a:r>
              <a:rPr lang="en-US" dirty="0"/>
              <a:t>Homeostasis (body temp, glycolysis, pH) and protein folding</a:t>
            </a:r>
          </a:p>
          <a:p>
            <a:r>
              <a:rPr lang="en-US" dirty="0"/>
              <a:t>Thermodynamic cooling laws and heat exchangers (thermal gradients)</a:t>
            </a:r>
          </a:p>
          <a:p>
            <a:r>
              <a:rPr lang="en-US" dirty="0"/>
              <a:t>Iterative root finding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03FF5-EE28-4E5C-BADB-AC0F6DB90076}"/>
              </a:ext>
            </a:extLst>
          </p:cNvPr>
          <p:cNvSpPr txBox="1"/>
          <p:nvPr/>
        </p:nvSpPr>
        <p:spPr>
          <a:xfrm>
            <a:off x="6941116" y="64886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*https://www.youtube.com/watch?v=1WPJdAW-sFo</a:t>
            </a:r>
          </a:p>
        </p:txBody>
      </p:sp>
    </p:spTree>
    <p:extLst>
      <p:ext uri="{BB962C8B-B14F-4D97-AF65-F5344CB8AC3E}">
        <p14:creationId xmlns:p14="http://schemas.microsoft.com/office/powerpoint/2010/main" val="3603430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33BC6-595D-C89A-9274-506EB01D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681BE-493B-1995-C438-26C92CD4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Feedback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EF563-C225-35B7-584C-81336233F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577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Divergent Systems:</a:t>
            </a:r>
          </a:p>
          <a:p>
            <a:r>
              <a:rPr lang="en-US" dirty="0"/>
              <a:t>Inverted pendulum (without control)</a:t>
            </a:r>
          </a:p>
          <a:p>
            <a:r>
              <a:rPr lang="en-US" dirty="0"/>
              <a:t>Positive-feedback amplifiers</a:t>
            </a:r>
          </a:p>
          <a:p>
            <a:r>
              <a:rPr lang="en-US" dirty="0"/>
              <a:t>Fire ignition, combustion, diesel engine runaway, supercritical reactions</a:t>
            </a:r>
          </a:p>
          <a:p>
            <a:r>
              <a:rPr lang="en-US" dirty="0"/>
              <a:t>Unbounded weight updates in machine learning</a:t>
            </a:r>
          </a:p>
          <a:p>
            <a:r>
              <a:rPr lang="en-US" dirty="0"/>
              <a:t>Population explosion (exponential versus logistic)</a:t>
            </a:r>
          </a:p>
          <a:p>
            <a:r>
              <a:rPr lang="en-US" dirty="0"/>
              <a:t>Speculative markets, bubble feedback loops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067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33BC6-595D-C89A-9274-506EB01D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681BE-493B-1995-C438-26C92CD4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Feedback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EF563-C225-35B7-584C-81336233F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577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Neutral Systems:</a:t>
            </a:r>
          </a:p>
          <a:p>
            <a:r>
              <a:rPr lang="en-US" dirty="0"/>
              <a:t>Ideal pendulum, frictionless oscillator</a:t>
            </a:r>
          </a:p>
          <a:p>
            <a:r>
              <a:rPr lang="en-US" dirty="0"/>
              <a:t>Ideal Keplerian planetary orbit</a:t>
            </a:r>
          </a:p>
          <a:p>
            <a:r>
              <a:rPr lang="en-US" dirty="0"/>
              <a:t>LC circuits without resistance</a:t>
            </a:r>
          </a:p>
          <a:p>
            <a:r>
              <a:rPr lang="en-US" dirty="0"/>
              <a:t>Pure imaginary eigenvalues, ideal center</a:t>
            </a:r>
          </a:p>
          <a:p>
            <a:r>
              <a:rPr lang="en-US" dirty="0"/>
              <a:t>Circular reasoning loops</a:t>
            </a:r>
          </a:p>
        </p:txBody>
      </p:sp>
    </p:spTree>
    <p:extLst>
      <p:ext uri="{BB962C8B-B14F-4D97-AF65-F5344CB8AC3E}">
        <p14:creationId xmlns:p14="http://schemas.microsoft.com/office/powerpoint/2010/main" val="2432896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421E7-4DFD-7248-96EA-01BB7F7D2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006A-F8E1-C9BA-0A58-F04B003F2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Mathematics of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60118-BD88-C58B-C86C-54620B730E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10515600" cy="435133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sz="2600" b="1" dirty="0"/>
                  <a:t>Classical Mechanics and Differential Equations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600" dirty="0"/>
                  <a:t>Classic damped harmonic oscillator equation:</a:t>
                </a:r>
                <a:br>
                  <a:rPr lang="en-US" sz="2600" dirty="0"/>
                </a:br>
                <a:br>
                  <a:rPr lang="en-US" sz="2600" dirty="0"/>
                </a:b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6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600" dirty="0"/>
                </a:br>
                <a:endParaRPr lang="en-US" sz="2600" dirty="0"/>
              </a:p>
              <a:p>
                <a:pPr lvl="1"/>
                <a:r>
                  <a:rPr lang="en-US" sz="2600" dirty="0"/>
                  <a:t>First term = Restoring Force</a:t>
                </a:r>
              </a:p>
              <a:p>
                <a:pPr lvl="1"/>
                <a:r>
                  <a:rPr lang="en-US" sz="2600" dirty="0"/>
                  <a:t>Second term = Damping (Feedback)</a:t>
                </a:r>
              </a:p>
              <a:p>
                <a:pPr lvl="1"/>
                <a:r>
                  <a:rPr lang="en-US" sz="2600" dirty="0"/>
                  <a:t>Third term = </a:t>
                </a:r>
              </a:p>
              <a:p>
                <a:pPr lvl="1"/>
                <a:r>
                  <a:rPr lang="en-US" sz="2600" dirty="0"/>
                  <a:t>The coefficients determine whether motion </a:t>
                </a:r>
                <a:r>
                  <a:rPr lang="en-US" sz="2600" b="1" dirty="0"/>
                  <a:t>converges, diverges, or oscillates.</a:t>
                </a:r>
                <a:r>
                  <a:rPr lang="en-US" sz="2600" dirty="0"/>
                  <a:t>	</a:t>
                </a:r>
              </a:p>
              <a:p>
                <a:r>
                  <a:rPr lang="en-US" sz="2600" dirty="0"/>
                  <a:t>Classic damped free harmonic oscillator solution:</a:t>
                </a:r>
                <a:br>
                  <a:rPr lang="en-US" sz="2600" dirty="0"/>
                </a:br>
                <a:br>
                  <a:rPr lang="en-US" sz="26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600" i="1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func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600" i="1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func>
                      </m:e>
                    </m:d>
                  </m:oMath>
                </a14:m>
                <a:endParaRPr lang="en-US" sz="26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300" b="0" dirty="0"/>
                  <a:t>Stable Decay: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300" b="0" i="0" smtClean="0">
                        <a:latin typeface="Cambria Math" panose="02040503050406030204" pitchFamily="18" charset="0"/>
                      </a:rPr>
                      <m:t>Re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300" dirty="0"/>
                  <a:t> </a:t>
                </a:r>
              </a:p>
              <a:p>
                <a:pPr lvl="1"/>
                <a:r>
                  <a:rPr lang="en-US" sz="2300" dirty="0"/>
                  <a:t>Unstable Growth: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300">
                        <a:latin typeface="Cambria Math" panose="02040503050406030204" pitchFamily="18" charset="0"/>
                      </a:rPr>
                      <m:t>Re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300" dirty="0"/>
                  <a:t> </a:t>
                </a:r>
              </a:p>
              <a:p>
                <a:pPr lvl="1"/>
                <a:r>
                  <a:rPr lang="en-US" sz="2300" dirty="0"/>
                  <a:t>Neutral Oscillation: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300">
                        <a:latin typeface="Cambria Math" panose="02040503050406030204" pitchFamily="18" charset="0"/>
                      </a:rPr>
                      <m:t>Re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300" dirty="0"/>
                  <a:t> </a:t>
                </a:r>
              </a:p>
              <a:p>
                <a:pPr marL="457200" lvl="1" indent="0">
                  <a:buNone/>
                </a:pPr>
                <a:endParaRPr lang="en-US" sz="2600" dirty="0"/>
              </a:p>
              <a:p>
                <a:r>
                  <a:rPr lang="en-US" sz="2600" dirty="0"/>
                  <a:t>Formalized by Maxwell (1868) and Lyapunov (1892)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60118-BD88-C58B-C86C-54620B730E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10515600" cy="4351338"/>
              </a:xfrm>
              <a:blipFill>
                <a:blip r:embed="rId2"/>
                <a:stretch>
                  <a:fillRect l="-638" t="-2381" b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165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DC4EF-4BA1-99C2-4109-59BA426D3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B1962-DF63-8040-B3CF-62DE81C54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Mathematics of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D09A9-36CC-2FCB-2737-FB387376F8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59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600" b="1" dirty="0"/>
                  <a:t>Linearized Systems and Matrices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600" dirty="0"/>
                  <a:t>Classic damped harmonic oscillator as a matrix:</a:t>
                </a:r>
                <a:br>
                  <a:rPr lang="en-US" sz="2600" dirty="0"/>
                </a:br>
                <a:br>
                  <a:rPr lang="en-US" sz="2600" dirty="0"/>
                </a:b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6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,       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6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6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b="0" i="1" dirty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6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6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en-US" sz="2600" b="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600" b="0" i="1" dirty="0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sSub>
                                <m:sSubPr>
                                  <m:ctrlPr>
                                    <a:rPr lang="en-US" sz="2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dirty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6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600" dirty="0"/>
              </a:p>
              <a:p>
                <a:pPr>
                  <a:spcAft>
                    <a:spcPts val="600"/>
                  </a:spcAft>
                </a:pPr>
                <a:r>
                  <a:rPr lang="en-US" sz="2600" dirty="0"/>
                  <a:t>General solution: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600" b="0" i="0" smtClean="0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600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D09A9-36CC-2FCB-2737-FB387376F8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599" cy="4351338"/>
              </a:xfrm>
              <a:blipFill>
                <a:blip r:embed="rId2"/>
                <a:stretch>
                  <a:fillRect l="-1044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4666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DC4EF-4BA1-99C2-4109-59BA426D3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B1962-DF63-8040-B3CF-62DE81C54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Mathematics of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D09A9-36CC-2FCB-2737-FB387376F8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53577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Linearized Systems and Matrices</a:t>
                </a:r>
                <a:endParaRPr lang="en-US" sz="2400" dirty="0"/>
              </a:p>
              <a:p>
                <a:r>
                  <a:rPr lang="en-US" sz="2400" dirty="0"/>
                  <a:t>Has eigenvalues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sz="2400" dirty="0"/>
                  <a:t> (for a 2x2 matrix) with Re/</a:t>
                </a:r>
                <a:r>
                  <a:rPr lang="en-US" sz="2400" dirty="0" err="1"/>
                  <a:t>Im</a:t>
                </a:r>
                <a:endParaRPr lang="en-US" sz="2400" dirty="0"/>
              </a:p>
              <a:p>
                <a:r>
                  <a:rPr lang="en-US" sz="2400" dirty="0"/>
                  <a:t>Each eigenvalue determines whether that axis attracts or repels trajectories</a:t>
                </a:r>
                <a:br>
                  <a:rPr lang="en-US" sz="2400" dirty="0"/>
                </a:b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𝜆𝜈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lvl="1"/>
                <a:r>
                  <a:rPr lang="en-US" dirty="0"/>
                  <a:t>Stable Decay: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Re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Unstable Growth: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Re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Neutral Oscillation: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Im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D09A9-36CC-2FCB-2737-FB387376F8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535779" cy="4351338"/>
              </a:xfrm>
              <a:blipFill>
                <a:blip r:embed="rId2"/>
                <a:stretch>
                  <a:fillRect l="-1294" t="-1961" r="-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42338F8-B13C-443C-8109-6D449C9A07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21"/>
          <a:stretch/>
        </p:blipFill>
        <p:spPr>
          <a:xfrm>
            <a:off x="5642308" y="3429000"/>
            <a:ext cx="6087939" cy="259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74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7EAF2-BE26-7BB8-CB53-A24923262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10543-28D6-98BE-300F-0BFFC77F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7" y="465704"/>
            <a:ext cx="10515600" cy="1325563"/>
          </a:xfrm>
        </p:spPr>
        <p:txBody>
          <a:bodyPr/>
          <a:lstStyle/>
          <a:p>
            <a:r>
              <a:rPr lang="en-US" dirty="0"/>
              <a:t>Visualizing Stability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9C0EA5-A1E1-8BC1-6806-00FC90530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70" y="2348009"/>
            <a:ext cx="4701283" cy="33065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15DA6F-5A41-5E1A-B5FD-68B53BC662BB}"/>
              </a:ext>
            </a:extLst>
          </p:cNvPr>
          <p:cNvSpPr txBox="1"/>
          <p:nvPr/>
        </p:nvSpPr>
        <p:spPr>
          <a:xfrm>
            <a:off x="223570" y="7123064"/>
            <a:ext cx="558203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https://www.larserikpersson.se/webcourse/ix-introduction-to-the-theory-of-dynamical-systems-chaos-stability-and-bifurcations/7-classification-of-critical-points/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3B83F1-CCAA-7908-A346-90282134E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986" y="1618715"/>
            <a:ext cx="6706444" cy="435133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D61BF3-6B5E-4778-B0DB-AA935C063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357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Phase Portraits</a:t>
            </a:r>
            <a:endParaRPr lang="en-US" dirty="0"/>
          </a:p>
          <a:p>
            <a:pPr marL="0" indent="0">
              <a:buNone/>
            </a:pPr>
            <a:endParaRPr lang="en-US" b="0" i="1" dirty="0">
              <a:latin typeface="Cambria Math" panose="020405030504060302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9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5F0CA-8652-7C7C-F134-6169D1786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9922-013E-BC62-8E1D-83404E91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of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84248-EB84-7EB1-1891-506E2C6F8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77500" lnSpcReduction="20000"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Oscillatory vs aperiodic describes </a:t>
            </a:r>
            <a:r>
              <a:rPr lang="en-US" sz="2400" b="1" dirty="0"/>
              <a:t>form of motion </a:t>
            </a:r>
            <a:r>
              <a:rPr lang="en-US" sz="2400" dirty="0"/>
              <a:t>(harmonic, damped, overdamped)</a:t>
            </a:r>
          </a:p>
          <a:p>
            <a:r>
              <a:rPr lang="en-US" sz="2400" dirty="0"/>
              <a:t>Stable vs unstable describes </a:t>
            </a:r>
            <a:r>
              <a:rPr lang="en-US" sz="2400" b="1" dirty="0"/>
              <a:t>direction of evolution </a:t>
            </a:r>
            <a:r>
              <a:rPr lang="en-US" sz="2400" dirty="0"/>
              <a:t>(toward/away from equilibrium)</a:t>
            </a:r>
          </a:p>
          <a:p>
            <a:r>
              <a:rPr lang="en-US" sz="2400" dirty="0"/>
              <a:t>Free vs forced describes </a:t>
            </a:r>
            <a:r>
              <a:rPr lang="en-US" sz="2400" b="1" dirty="0"/>
              <a:t>source of excitation</a:t>
            </a:r>
            <a:r>
              <a:rPr lang="en-US" sz="2400" b="1" i="1" dirty="0"/>
              <a:t> </a:t>
            </a:r>
            <a:r>
              <a:rPr lang="en-US" sz="2400" dirty="0"/>
              <a:t>(natural or driven)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A4983A-7432-067E-0068-B7EA4EDD53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0123120"/>
                  </p:ext>
                </p:extLst>
              </p:nvPr>
            </p:nvGraphicFramePr>
            <p:xfrm>
              <a:off x="838200" y="1515054"/>
              <a:ext cx="10515600" cy="36356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1893386045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713719246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0590808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3538086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259320899"/>
                        </a:ext>
                      </a:extLst>
                    </a:gridCol>
                  </a:tblGrid>
                  <a:tr h="4000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Category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Canon 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Math Form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Behavior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743176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Oscillatory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Harmonic Oscillator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̈"/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Periodic motion about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Mass-spring, LC circuit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35463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Damped Oscillator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̈"/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acc>
                                  <m:accPr>
                                    <m:chr m:val="̇"/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Oscillation with decaying amplitude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Suspension, RLC circuit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570143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Driven/Forced Oscillator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̈"/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acc>
                                  <m:accPr>
                                    <m:chr m:val="̇"/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Oscillation with external forcing; may resonate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Speaker diaphragm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359784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Aperiodic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Overdamped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&gt;1→</m:t>
                              </m:r>
                            </m:oMath>
                          </a14:m>
                          <a:r>
                            <a:rPr lang="en-US" sz="1400" dirty="0"/>
                            <a:t> two real</a:t>
                          </a:r>
                          <a:r>
                            <a:rPr lang="en-US" sz="1400" baseline="0" dirty="0"/>
                            <a:t> negative eigenvalues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Monotonic return to equilibrium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Door closer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2465551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Critically Damped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400" b="0" dirty="0"/>
                        </a:p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Fastest non-oscillatory return to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Seismograph damper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4988656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Unstable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Re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n-US" sz="140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Exponential divergence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Thermal runaway, population explosion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6614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A4983A-7432-067E-0068-B7EA4EDD53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0123120"/>
                  </p:ext>
                </p:extLst>
              </p:nvPr>
            </p:nvGraphicFramePr>
            <p:xfrm>
              <a:off x="838200" y="1515054"/>
              <a:ext cx="10515600" cy="36356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1893386045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713719246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0590808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3538086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259320899"/>
                        </a:ext>
                      </a:extLst>
                    </a:gridCol>
                  </a:tblGrid>
                  <a:tr h="4000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Category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Canon 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Math Form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Behavior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743176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Oscillatory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Harmonic Oscillator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79545" r="-200578" b="-51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Periodic motion about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Mass-spring, LC circuit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35463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Damped Oscillator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177528" r="-200578" b="-405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Oscillation with decaying amplitude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Suspension, RLC circuit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570143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Driven/Forced Oscillator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280682" r="-200578" b="-3102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Oscillation with external forcing; may resonate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Speaker diaphragm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359784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Aperiodic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Overdamped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376404" r="-200578" b="-206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Monotonic return to equilibrium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Door closer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2465551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Critically Damped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481818" r="-200578" b="-1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Fastest non-oscillatory return to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Seismograph damper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4988656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Unstable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575281" r="-200578" b="-78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Exponential divergence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Thermal runaway, population explosion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66147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91357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C60F-D93B-94F3-5B94-103645D15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29CCD-AB1B-F623-A516-6B939FEF0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of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DBF1-85EB-24A5-E4EF-AEAD6FC0E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Attractors and </a:t>
            </a:r>
            <a:r>
              <a:rPr lang="en-US" dirty="0" err="1"/>
              <a:t>Repulsors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85B4FBB-DE52-86D7-1243-7FFC2FD6EE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2136283"/>
                  </p:ext>
                </p:extLst>
              </p:nvPr>
            </p:nvGraphicFramePr>
            <p:xfrm>
              <a:off x="838200" y="1515054"/>
              <a:ext cx="10515600" cy="25570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1893386045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713719246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0590808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3538086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259320899"/>
                        </a:ext>
                      </a:extLst>
                    </a:gridCol>
                  </a:tblGrid>
                  <a:tr h="4000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Canon Definition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Signature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Stability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743176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Attractor</a:t>
                          </a:r>
                          <a:br>
                            <a:rPr lang="en-US" sz="1400" b="1" dirty="0"/>
                          </a:br>
                          <a:r>
                            <a:rPr lang="en-US" sz="1400" b="0" dirty="0"/>
                            <a:t>Stable Equilibrium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Small disturbances decay over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Re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en-US" sz="1400" i="0" dirty="0"/>
                        </a:p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Asymptotically 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Sink or stable spiral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35463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 err="1"/>
                            <a:t>Repulsor</a:t>
                          </a:r>
                          <a:endParaRPr lang="en-US" sz="1400" b="1" dirty="0"/>
                        </a:p>
                        <a:p>
                          <a:r>
                            <a:rPr lang="en-US" sz="1400" b="0" dirty="0"/>
                            <a:t>Unstable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Small disturbances grow over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Re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n-US" sz="1400" i="0" dirty="0"/>
                        </a:p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Unstable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Source or unstable spiral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570143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Center</a:t>
                          </a:r>
                        </a:p>
                        <a:p>
                          <a:r>
                            <a:rPr lang="en-US" sz="1400" b="0" dirty="0"/>
                            <a:t>Neutral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Disturbances neither grow nor decay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Re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400" i="0" dirty="0"/>
                        </a:p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Marginally 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Closed orbit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359784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Saddle Point</a:t>
                          </a:r>
                        </a:p>
                        <a:p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Stable in one direction, unstable in the other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Mixed signs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Conditionally 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Saddle lines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24655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85B4FBB-DE52-86D7-1243-7FFC2FD6EE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2136283"/>
                  </p:ext>
                </p:extLst>
              </p:nvPr>
            </p:nvGraphicFramePr>
            <p:xfrm>
              <a:off x="838200" y="1515054"/>
              <a:ext cx="10515600" cy="25570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1893386045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713719246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0590808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3538086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259320899"/>
                        </a:ext>
                      </a:extLst>
                    </a:gridCol>
                  </a:tblGrid>
                  <a:tr h="4000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Canon Definition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Signature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Stability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743176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Attractor</a:t>
                          </a:r>
                          <a:br>
                            <a:rPr lang="en-US" sz="1400" b="1" dirty="0"/>
                          </a:br>
                          <a:r>
                            <a:rPr lang="en-US" sz="1400" b="0" dirty="0"/>
                            <a:t>Stable Equilibrium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Small disturbances decay over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78652" r="-200578" b="-305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Asymptotically 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Sink or stable spiral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35463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 err="1"/>
                            <a:t>Repulsor</a:t>
                          </a:r>
                          <a:endParaRPr lang="en-US" sz="1400" b="1" dirty="0"/>
                        </a:p>
                        <a:p>
                          <a:r>
                            <a:rPr lang="en-US" sz="1400" b="0" dirty="0"/>
                            <a:t>Unstable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Small disturbances grow over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180682" r="-200578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Unstable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Source or unstable spiral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570143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Center</a:t>
                          </a:r>
                        </a:p>
                        <a:p>
                          <a:r>
                            <a:rPr lang="en-US" sz="1400" b="0" dirty="0"/>
                            <a:t>Neutral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Disturbances neither grow nor decay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277528" r="-200578" b="-106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Marginally 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Closed orbit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359784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Saddle Point</a:t>
                          </a:r>
                        </a:p>
                        <a:p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Stable in one direction, unstable in the other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Mixed signs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Conditionally 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Saddle lines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24655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707A875-AE59-2890-FBC3-B4BDBEF6E5A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These are the fixed-point geometries in phase portraits</a:t>
            </a:r>
          </a:p>
          <a:p>
            <a:r>
              <a:rPr lang="en-US" sz="2400" dirty="0"/>
              <a:t>Each corresponds to a distinct pattern of eigenvalues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62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90B9E-3D96-E362-97F8-64539DA7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78468-E5B6-AFCB-86DA-E4756014C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Modes of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AAD0B-F3EE-F04F-453A-00368C6C4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From James Clerk Maxwell’s </a:t>
            </a:r>
            <a:r>
              <a:rPr lang="en-US" sz="2400" i="1" dirty="0"/>
              <a:t>On Governors (1868)</a:t>
            </a:r>
            <a:endParaRPr lang="en-US" sz="2400" dirty="0"/>
          </a:p>
          <a:p>
            <a:r>
              <a:rPr lang="en-US" sz="2400" b="1" dirty="0"/>
              <a:t>Stable decay </a:t>
            </a:r>
            <a:r>
              <a:rPr lang="en-US" sz="2400" dirty="0"/>
              <a:t>(damped motion)</a:t>
            </a:r>
          </a:p>
          <a:p>
            <a:r>
              <a:rPr lang="en-US" sz="2400" b="1" dirty="0"/>
              <a:t>Unstable growth </a:t>
            </a:r>
            <a:r>
              <a:rPr lang="en-US" sz="2400" dirty="0"/>
              <a:t>(runaway motion)</a:t>
            </a:r>
          </a:p>
          <a:p>
            <a:r>
              <a:rPr lang="en-US" sz="2400" b="1" dirty="0"/>
              <a:t>Stable oscillation </a:t>
            </a:r>
            <a:r>
              <a:rPr lang="en-US" sz="2400" dirty="0"/>
              <a:t>(neutral, periodic)</a:t>
            </a:r>
          </a:p>
          <a:p>
            <a:r>
              <a:rPr lang="en-US" sz="2400" b="1" dirty="0"/>
              <a:t>Unstable oscillation </a:t>
            </a:r>
            <a:r>
              <a:rPr lang="en-US" sz="2400" dirty="0"/>
              <a:t>(growing oscillations)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BBAB62-45D8-9473-8C31-CE53534A6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741"/>
          <a:stretch>
            <a:fillRect/>
          </a:stretch>
        </p:blipFill>
        <p:spPr>
          <a:xfrm>
            <a:off x="7762592" y="681037"/>
            <a:ext cx="3775060" cy="27639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5B9FDE-3BE5-C8A6-AE87-DC9ED8F763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204"/>
          <a:stretch>
            <a:fillRect/>
          </a:stretch>
        </p:blipFill>
        <p:spPr>
          <a:xfrm>
            <a:off x="7762592" y="3579906"/>
            <a:ext cx="3593681" cy="276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07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D33DD-04EA-AC3F-7E2E-7D56BF3E8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Modes of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B64F51-7B85-1BEC-8CE5-1A0BB6DD10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lvl="0"/>
                <a:r>
                  <a:rPr lang="en-US" sz="2600" b="1" dirty="0"/>
                  <a:t>Modus Ponens (MP)</a:t>
                </a:r>
              </a:p>
              <a:p>
                <a:pPr lvl="1"/>
                <a:r>
                  <a:rPr lang="en-US" sz="2600" dirty="0"/>
                  <a:t>If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then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;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holds, so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 follows. </a:t>
                </a:r>
              </a:p>
              <a:p>
                <a:pPr lvl="1"/>
                <a:r>
                  <a:rPr lang="en-US" sz="2600" dirty="0"/>
                  <a:t>Valid, soundly argues sufficiency</a:t>
                </a:r>
              </a:p>
              <a:p>
                <a:r>
                  <a:rPr lang="en-US" sz="2600" b="1" dirty="0"/>
                  <a:t>Affirming the Consequent (AC):</a:t>
                </a:r>
                <a:r>
                  <a:rPr lang="en-US" sz="2600" dirty="0"/>
                  <a:t> </a:t>
                </a:r>
              </a:p>
              <a:p>
                <a:pPr lvl="1"/>
                <a:r>
                  <a:rPr lang="en-US" sz="2600" dirty="0"/>
                  <a:t>If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then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;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 holds, so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must hold. </a:t>
                </a:r>
              </a:p>
              <a:p>
                <a:pPr lvl="1"/>
                <a:r>
                  <a:rPr lang="en-US" sz="2600" dirty="0"/>
                  <a:t>Invalid, fallaciously argues sufficiency</a:t>
                </a:r>
              </a:p>
              <a:p>
                <a:pPr lvl="0"/>
                <a:r>
                  <a:rPr lang="en-US" sz="2600" b="1" dirty="0"/>
                  <a:t>Modus Tollens (MT): </a:t>
                </a:r>
              </a:p>
              <a:p>
                <a:pPr lvl="1"/>
                <a:r>
                  <a:rPr lang="en-US" sz="2600" dirty="0"/>
                  <a:t>If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then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;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 does not hold, so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cannot hold. </a:t>
                </a:r>
              </a:p>
              <a:p>
                <a:pPr lvl="1"/>
                <a:r>
                  <a:rPr lang="en-US" sz="2600" dirty="0"/>
                  <a:t>Valid, soundly argues necessity</a:t>
                </a:r>
              </a:p>
              <a:p>
                <a:pPr lvl="0"/>
                <a:r>
                  <a:rPr lang="en-US" sz="2600" b="1" dirty="0"/>
                  <a:t>Denying the Antecedent (DA): </a:t>
                </a:r>
              </a:p>
              <a:p>
                <a:pPr lvl="1"/>
                <a:r>
                  <a:rPr lang="en-US" sz="2600" dirty="0"/>
                  <a:t>If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then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;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does not hold, so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 cannot hold. </a:t>
                </a:r>
              </a:p>
              <a:p>
                <a:pPr lvl="1"/>
                <a:r>
                  <a:rPr lang="en-US" sz="2600" dirty="0"/>
                  <a:t>Invalid, fallaciously argues necessity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B64F51-7B85-1BEC-8CE5-1A0BB6DD10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234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08C48-4851-A49F-FE36-CA2EF7D35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Modes of Inference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C81B08-0EAF-D12C-1405-A9340D4C9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871" y="1306286"/>
            <a:ext cx="7154258" cy="555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099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B2A96-6B45-7D5C-5C53-5657D7CCF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ED981-EB1F-B21F-C17C-A85082E9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E569DE9-00BF-423E-9FFC-71C65EBBF6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6597905"/>
                  </p:ext>
                </p:extLst>
              </p:nvPr>
            </p:nvGraphicFramePr>
            <p:xfrm>
              <a:off x="838200" y="1690688"/>
              <a:ext cx="10515600" cy="46738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43361">
                      <a:extLst>
                        <a:ext uri="{9D8B030D-6E8A-4147-A177-3AD203B41FA5}">
                          <a16:colId xmlns:a16="http://schemas.microsoft.com/office/drawing/2014/main" val="1893386045"/>
                        </a:ext>
                      </a:extLst>
                    </a:gridCol>
                    <a:gridCol w="4536489">
                      <a:extLst>
                        <a:ext uri="{9D8B030D-6E8A-4147-A177-3AD203B41FA5}">
                          <a16:colId xmlns:a16="http://schemas.microsoft.com/office/drawing/2014/main" val="713719246"/>
                        </a:ext>
                      </a:extLst>
                    </a:gridCol>
                    <a:gridCol w="4535750">
                      <a:extLst>
                        <a:ext uri="{9D8B030D-6E8A-4147-A177-3AD203B41FA5}">
                          <a16:colId xmlns:a16="http://schemas.microsoft.com/office/drawing/2014/main" val="2305908088"/>
                        </a:ext>
                      </a:extLst>
                    </a:gridCol>
                  </a:tblGrid>
                  <a:tr h="570253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Consequent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743176"/>
                      </a:ext>
                    </a:extLst>
                  </a:tr>
                  <a:tr h="50699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/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1" dirty="0"/>
                            <a:t>False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354634"/>
                      </a:ext>
                    </a:extLst>
                  </a:tr>
                  <a:tr h="71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/>
                            <a:t>True</a:t>
                          </a:r>
                          <a:endParaRPr lang="en-US" sz="18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Modus Ponens (MP)</a:t>
                          </a:r>
                          <a:r>
                            <a:rPr lang="en-US" sz="1600" b="0" dirty="0"/>
                            <a:t> 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Logically Valid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Unstable Attractor 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Negative Feedback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Argues Sufficiency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Inferential Strength: 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Denying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Antecedent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DA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Logically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Invalid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Fallacy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Unstable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Repuls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Positive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Feedback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pPr algn="ctr"/>
                          <a:r>
                            <a:rPr lang="en-US" sz="1600" b="0" dirty="0"/>
                            <a:t>Falsely</a:t>
                          </a:r>
                          <a:r>
                            <a:rPr lang="en-US" sz="1600" b="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1600" b="0" dirty="0"/>
                                <m:t>Argues</m:t>
                              </m:r>
                              <m:r>
                                <m:rPr>
                                  <m:nor/>
                                </m:rPr>
                                <a:rPr lang="en-US" sz="1600" b="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b="0" dirty="0"/>
                                <m:t>Necessity</m:t>
                              </m:r>
                            </m:oMath>
                          </a14:m>
                          <a:endParaRPr lang="en-US" sz="1600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Inferential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Strength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: 0.1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570143"/>
                      </a:ext>
                    </a:extLst>
                  </a:tr>
                  <a:tr h="17671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1" dirty="0"/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Affirming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Consequent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AC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Logically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Invalid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Fallacy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Stable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Repuls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Positive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Feedback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pPr algn="ctr"/>
                          <a:r>
                            <a:rPr lang="en-US" sz="1600" b="0" dirty="0"/>
                            <a:t>Falsely</a:t>
                          </a:r>
                          <a:r>
                            <a:rPr lang="en-US" sz="1600" b="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1600" b="0" dirty="0"/>
                                <m:t>Argues</m:t>
                              </m:r>
                              <m:r>
                                <m:rPr>
                                  <m:nor/>
                                </m:rPr>
                                <a:rPr lang="en-US" sz="1600" b="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b="0" i="0" dirty="0" smtClean="0"/>
                                <m:t>Sufficiency</m:t>
                              </m:r>
                            </m:oMath>
                          </a14:m>
                          <a:endParaRPr lang="en-US" sz="1600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Inferential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Strength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: 0.3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Modus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Toll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ens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MT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  <a:p>
                          <a:pPr algn="ctr"/>
                          <a:r>
                            <a:rPr lang="en-US" sz="1600" b="0" dirty="0"/>
                            <a:t>Logically Valid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Stable Attractor 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Negative Feedback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Argues Necessity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Inferential Strength: 0.9</a:t>
                          </a:r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35978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E569DE9-00BF-423E-9FFC-71C65EBBF6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6597905"/>
                  </p:ext>
                </p:extLst>
              </p:nvPr>
            </p:nvGraphicFramePr>
            <p:xfrm>
              <a:off x="838200" y="1690688"/>
              <a:ext cx="10515600" cy="46738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43361">
                      <a:extLst>
                        <a:ext uri="{9D8B030D-6E8A-4147-A177-3AD203B41FA5}">
                          <a16:colId xmlns:a16="http://schemas.microsoft.com/office/drawing/2014/main" val="1893386045"/>
                        </a:ext>
                      </a:extLst>
                    </a:gridCol>
                    <a:gridCol w="4536489">
                      <a:extLst>
                        <a:ext uri="{9D8B030D-6E8A-4147-A177-3AD203B41FA5}">
                          <a16:colId xmlns:a16="http://schemas.microsoft.com/office/drawing/2014/main" val="713719246"/>
                        </a:ext>
                      </a:extLst>
                    </a:gridCol>
                    <a:gridCol w="4535750">
                      <a:extLst>
                        <a:ext uri="{9D8B030D-6E8A-4147-A177-3AD203B41FA5}">
                          <a16:colId xmlns:a16="http://schemas.microsoft.com/office/drawing/2014/main" val="2305908088"/>
                        </a:ext>
                      </a:extLst>
                    </a:gridCol>
                  </a:tblGrid>
                  <a:tr h="570253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Consequent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743176"/>
                      </a:ext>
                    </a:extLst>
                  </a:tr>
                  <a:tr h="50699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/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1" dirty="0"/>
                            <a:t>False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354634"/>
                      </a:ext>
                    </a:extLst>
                  </a:tr>
                  <a:tr h="1798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/>
                            <a:t>True</a:t>
                          </a:r>
                          <a:endParaRPr lang="en-US" sz="18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Modus Ponens (MP)</a:t>
                          </a:r>
                          <a:r>
                            <a:rPr lang="en-US" sz="1600" b="0" dirty="0"/>
                            <a:t> 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Logically Valid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Unstable Attractor 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Negative Feedback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Argues Sufficiency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Inferential Strength: 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2124" t="-61486" r="-269" b="-1003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570143"/>
                      </a:ext>
                    </a:extLst>
                  </a:tr>
                  <a:tr h="1798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1" dirty="0"/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946" t="-162034" r="-100134" b="-6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2124" t="-162034" r="-269" b="-6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35978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70142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50DD-FD81-DE59-7C8D-FC038FDEB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6BEE-5AFF-7559-3F93-6DF2E2BC3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as a Dynamic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115AE-F091-A006-1828-D689E8534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inference be described as a </a:t>
            </a:r>
            <a:r>
              <a:rPr lang="en-US" i="1" dirty="0"/>
              <a:t>dynamical system</a:t>
            </a:r>
            <a:r>
              <a:rPr lang="en-US" dirty="0"/>
              <a:t>?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347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50DD-FD81-DE59-7C8D-FC038FDEB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6BEE-5AFF-7559-3F93-6DF2E2BC3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as a Dynamic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0115AE-F091-A006-1828-D689E85347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Mathematically, each inference mode can be expressed as an operator on the reasoning state. A simple family is the scaled rotation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which updates the reasoning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 Its eigenvalues are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0115AE-F091-A006-1828-D689E85347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3517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50DD-FD81-DE59-7C8D-FC038FDEB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with lines and dots&#10;&#10;AI-generated content may be incorrect.">
            <a:extLst>
              <a:ext uri="{FF2B5EF4-FFF2-40B4-BE49-F238E27FC236}">
                <a16:creationId xmlns:a16="http://schemas.microsoft.com/office/drawing/2014/main" id="{0686C757-1E21-424E-9294-311571BBC9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03658" y="188208"/>
            <a:ext cx="7984684" cy="648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274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6D3A-4CC7-54F4-D6D2-98DEB60E7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as a Dynamic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18F29-26D6-9F48-16A9-F1147973F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Valid Inference (MP, MT):</a:t>
            </a:r>
          </a:p>
          <a:p>
            <a:pPr lvl="1"/>
            <a:r>
              <a:rPr lang="en-US" dirty="0"/>
              <a:t>Attractor</a:t>
            </a:r>
          </a:p>
          <a:p>
            <a:pPr lvl="1"/>
            <a:r>
              <a:rPr lang="en-US" dirty="0"/>
              <a:t>Sink</a:t>
            </a:r>
          </a:p>
          <a:p>
            <a:pPr lvl="1"/>
            <a:r>
              <a:rPr lang="en-US" dirty="0"/>
              <a:t>Negative feedback</a:t>
            </a:r>
          </a:p>
          <a:p>
            <a:pPr lvl="1"/>
            <a:r>
              <a:rPr lang="en-US" dirty="0"/>
              <a:t>Damping</a:t>
            </a:r>
          </a:p>
          <a:p>
            <a:pPr lvl="1"/>
            <a:r>
              <a:rPr lang="en-US" dirty="0"/>
              <a:t>Convergence</a:t>
            </a:r>
          </a:p>
          <a:p>
            <a:r>
              <a:rPr lang="en-US" dirty="0"/>
              <a:t>Invalid Inference (DA, AC):</a:t>
            </a:r>
          </a:p>
          <a:p>
            <a:pPr lvl="1"/>
            <a:r>
              <a:rPr lang="en-US" dirty="0" err="1"/>
              <a:t>Repulsor</a:t>
            </a:r>
            <a:endParaRPr lang="en-US" dirty="0"/>
          </a:p>
          <a:p>
            <a:pPr lvl="1"/>
            <a:r>
              <a:rPr lang="en-US" dirty="0"/>
              <a:t>Source</a:t>
            </a:r>
          </a:p>
          <a:p>
            <a:pPr lvl="1"/>
            <a:r>
              <a:rPr lang="en-US" dirty="0"/>
              <a:t>Positive Feedback</a:t>
            </a:r>
          </a:p>
          <a:p>
            <a:pPr lvl="1"/>
            <a:r>
              <a:rPr lang="en-US" dirty="0"/>
              <a:t>Runaway</a:t>
            </a:r>
          </a:p>
          <a:p>
            <a:pPr lvl="1"/>
            <a:r>
              <a:rPr lang="en-US" dirty="0"/>
              <a:t>Divergence</a:t>
            </a:r>
          </a:p>
          <a:p>
            <a:r>
              <a:rPr lang="en-US" dirty="0"/>
              <a:t>Circular Inference </a:t>
            </a:r>
          </a:p>
          <a:p>
            <a:pPr lvl="1"/>
            <a:r>
              <a:rPr lang="en-US" dirty="0"/>
              <a:t>Neutral Orbit (Center)</a:t>
            </a:r>
          </a:p>
          <a:p>
            <a:r>
              <a:rPr lang="en-US" dirty="0"/>
              <a:t>Selective Inference</a:t>
            </a:r>
          </a:p>
          <a:p>
            <a:pPr lvl="1"/>
            <a:r>
              <a:rPr lang="en-US" dirty="0"/>
              <a:t>Saddle 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968CAA-656B-470F-ABB5-4A7F70DEA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341" y="1548560"/>
            <a:ext cx="6540624" cy="490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29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0081F-19CD-D5AB-CD96-FF1ECEEA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as the Stable Attractor of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3BEA6-C014-108E-A4D7-4B0CF3A45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rational diagonal </a:t>
            </a:r>
            <a:r>
              <a:rPr lang="en-US" dirty="0"/>
              <a:t>(MP, MT) functions as negative feedback. Valid inferences damp error and converge reasoning toward stability.</a:t>
            </a:r>
          </a:p>
          <a:p>
            <a:pPr lvl="1"/>
            <a:r>
              <a:rPr lang="en-US" dirty="0"/>
              <a:t>Rational propaganda (Huxley)</a:t>
            </a:r>
          </a:p>
          <a:p>
            <a:pPr lvl="1"/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irrational diagonal </a:t>
            </a:r>
            <a:r>
              <a:rPr lang="en-US" dirty="0"/>
              <a:t>(AC, DA) functions as positive feedback. Fallacies amplify error, producing divergence or oscillation.</a:t>
            </a:r>
          </a:p>
          <a:p>
            <a:pPr lvl="1"/>
            <a:r>
              <a:rPr lang="en-US" dirty="0"/>
              <a:t>Irrational propaganda (Huxley)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Fallacies</a:t>
            </a:r>
            <a:r>
              <a:rPr lang="en-US" dirty="0"/>
              <a:t> push trajectories away; </a:t>
            </a:r>
            <a:r>
              <a:rPr lang="en-US" b="1" dirty="0"/>
              <a:t>valid inference </a:t>
            </a:r>
            <a:r>
              <a:rPr lang="en-US" dirty="0"/>
              <a:t>pulls trajectories in.</a:t>
            </a:r>
          </a:p>
        </p:txBody>
      </p:sp>
    </p:spTree>
    <p:extLst>
      <p:ext uri="{BB962C8B-B14F-4D97-AF65-F5344CB8AC3E}">
        <p14:creationId xmlns:p14="http://schemas.microsoft.com/office/powerpoint/2010/main" val="807420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C23FA-E0C3-51D5-0613-23AFD7DAE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Geometry of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8A05C-B777-BA4F-08F6-E9593ABB0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“For the Greeks, it wasn’t enough for math to just be useful. They wanted geometry to address deeply philosophical questions...”</a:t>
            </a:r>
          </a:p>
          <a:p>
            <a:endParaRPr lang="en-US" dirty="0"/>
          </a:p>
          <a:p>
            <a:r>
              <a:rPr lang="en-US" dirty="0"/>
              <a:t>... [they] had a culture of antagonistic debate where the very nature of absolute truth was hotly contested.” </a:t>
            </a:r>
            <a:br>
              <a:rPr lang="en-US" dirty="0"/>
            </a:br>
            <a:r>
              <a:rPr lang="en-US" dirty="0"/>
              <a:t>– Ben Syverson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35C13-C630-97B4-B684-98912959F7BA}"/>
              </a:ext>
            </a:extLst>
          </p:cNvPr>
          <p:cNvSpPr txBox="1"/>
          <p:nvPr/>
        </p:nvSpPr>
        <p:spPr>
          <a:xfrm>
            <a:off x="6094446" y="430212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https://www.youtube.com/watch?v=M-MgQC6z3VU</a:t>
            </a:r>
          </a:p>
        </p:txBody>
      </p:sp>
    </p:spTree>
    <p:extLst>
      <p:ext uri="{BB962C8B-B14F-4D97-AF65-F5344CB8AC3E}">
        <p14:creationId xmlns:p14="http://schemas.microsoft.com/office/powerpoint/2010/main" val="4161773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86EC1B-D1ED-4526-B784-F78BCE882E34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8" t="19365" r="11513" b="19007"/>
          <a:stretch>
            <a:fillRect/>
          </a:stretch>
        </p:blipFill>
        <p:spPr bwMode="auto">
          <a:xfrm>
            <a:off x="2916762" y="1246203"/>
            <a:ext cx="6358476" cy="524667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5B9530-D3CF-80DE-ECBA-B8EAC5217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of Reasoning and Critical Path</a:t>
            </a:r>
          </a:p>
        </p:txBody>
      </p:sp>
    </p:spTree>
    <p:extLst>
      <p:ext uri="{BB962C8B-B14F-4D97-AF65-F5344CB8AC3E}">
        <p14:creationId xmlns:p14="http://schemas.microsoft.com/office/powerpoint/2010/main" val="1894429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B8F20-772A-88E2-98C5-C3D88CFC7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9BB93-4387-A092-D266-732BABDA2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Posture:</a:t>
            </a:r>
          </a:p>
          <a:p>
            <a:r>
              <a:rPr lang="en-US" b="1" dirty="0"/>
              <a:t>Epistemic humility</a:t>
            </a:r>
            <a:r>
              <a:rPr lang="en-US" dirty="0"/>
              <a:t> (be willing to be wrong) </a:t>
            </a:r>
          </a:p>
          <a:p>
            <a:r>
              <a:rPr lang="en-US" b="1" dirty="0"/>
              <a:t>Deontological doubt</a:t>
            </a:r>
            <a:r>
              <a:rPr lang="en-US" dirty="0"/>
              <a:t> (moral duty to avoid false positives)</a:t>
            </a:r>
          </a:p>
          <a:p>
            <a:r>
              <a:rPr lang="en-US" b="1" dirty="0"/>
              <a:t>Ontological confidence</a:t>
            </a:r>
            <a:r>
              <a:rPr lang="en-US" dirty="0"/>
              <a:t> (reality has structure, which can be probed).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Aim:</a:t>
            </a:r>
          </a:p>
          <a:p>
            <a:r>
              <a:rPr lang="en-US" dirty="0"/>
              <a:t>Seek </a:t>
            </a:r>
            <a:r>
              <a:rPr lang="en-US" b="1" dirty="0"/>
              <a:t>truth </a:t>
            </a:r>
            <a:r>
              <a:rPr lang="en-US" dirty="0"/>
              <a:t>through </a:t>
            </a:r>
            <a:r>
              <a:rPr lang="en-US" b="1" dirty="0"/>
              <a:t>coherence</a:t>
            </a:r>
            <a:r>
              <a:rPr lang="en-US" dirty="0"/>
              <a:t> and </a:t>
            </a:r>
            <a:r>
              <a:rPr lang="en-US" b="1" dirty="0"/>
              <a:t>invariance</a:t>
            </a:r>
            <a:r>
              <a:rPr lang="en-US" dirty="0"/>
              <a:t> rather than stacking “facts.”</a:t>
            </a:r>
            <a:r>
              <a:rPr lang="en-US" b="1" dirty="0"/>
              <a:t> </a:t>
            </a:r>
          </a:p>
          <a:p>
            <a:endParaRPr lang="en-US" b="1" dirty="0"/>
          </a:p>
          <a:p>
            <a:pPr marL="0" lvl="0" indent="0">
              <a:buNone/>
            </a:pPr>
            <a:r>
              <a:rPr lang="en-US" b="1" dirty="0"/>
              <a:t>Ethic:</a:t>
            </a:r>
          </a:p>
          <a:p>
            <a:pPr lvl="0"/>
            <a:r>
              <a:rPr lang="en-US" dirty="0"/>
              <a:t>Prefer a </a:t>
            </a:r>
            <a:r>
              <a:rPr lang="en-US" b="1" dirty="0"/>
              <a:t>non-answer</a:t>
            </a:r>
            <a:r>
              <a:rPr lang="en-US" dirty="0"/>
              <a:t> to a confidently false answer. Minimize doubt; don’t enshrine beliefs.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Thesis:</a:t>
            </a:r>
          </a:p>
          <a:p>
            <a:pPr lvl="0"/>
            <a:r>
              <a:rPr lang="en-US" b="1" dirty="0"/>
              <a:t>Truth</a:t>
            </a:r>
            <a:r>
              <a:rPr lang="en-US" dirty="0"/>
              <a:t> is what survives inversion; in dynamical terms, it </a:t>
            </a:r>
            <a:r>
              <a:rPr lang="en-US" b="1" dirty="0"/>
              <a:t>behaves like an attractor.</a:t>
            </a:r>
          </a:p>
          <a:p>
            <a:pPr lvl="0"/>
            <a:r>
              <a:rPr lang="en-US" dirty="0"/>
              <a:t>A good model converges toward equilibrium under perturbation and feedback.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43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B8F20-772A-88E2-98C5-C3D88CFC7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Anchors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9BB93-4387-A092-D266-732BABDA2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Historical Anchors:</a:t>
            </a:r>
          </a:p>
          <a:p>
            <a:pPr lvl="0"/>
            <a:r>
              <a:rPr lang="en-US" b="1" dirty="0"/>
              <a:t>Aristotle </a:t>
            </a:r>
            <a:r>
              <a:rPr lang="en-US" dirty="0"/>
              <a:t>on motion, necessity/sufficiency, and falsification.</a:t>
            </a:r>
          </a:p>
          <a:p>
            <a:pPr lvl="1"/>
            <a:r>
              <a:rPr lang="en-US" i="1" dirty="0"/>
              <a:t>Physics</a:t>
            </a:r>
            <a:r>
              <a:rPr lang="en-US" dirty="0"/>
              <a:t> and </a:t>
            </a:r>
            <a:r>
              <a:rPr lang="en-US" i="1" dirty="0"/>
              <a:t>Posterior Analytics </a:t>
            </a:r>
            <a:r>
              <a:rPr lang="en-US" dirty="0"/>
              <a:t>(350 BCE).</a:t>
            </a:r>
          </a:p>
          <a:p>
            <a:pPr lvl="0"/>
            <a:r>
              <a:rPr lang="en-US" b="1" dirty="0"/>
              <a:t>Galileo </a:t>
            </a:r>
            <a:r>
              <a:rPr lang="en-US" dirty="0"/>
              <a:t>on inertia and falsification of Aristotelian motion.</a:t>
            </a:r>
          </a:p>
          <a:p>
            <a:pPr lvl="1"/>
            <a:r>
              <a:rPr lang="en-US" i="1" dirty="0"/>
              <a:t>Dialogue</a:t>
            </a:r>
            <a:r>
              <a:rPr lang="en-US" dirty="0"/>
              <a:t> (1632), </a:t>
            </a:r>
            <a:r>
              <a:rPr lang="en-US" i="1" dirty="0"/>
              <a:t>Two New Sciences</a:t>
            </a:r>
            <a:r>
              <a:rPr lang="en-US" dirty="0"/>
              <a:t> (1638).</a:t>
            </a:r>
          </a:p>
          <a:p>
            <a:pPr lvl="0"/>
            <a:r>
              <a:rPr lang="en-US" b="1" dirty="0"/>
              <a:t>Maxwell’s </a:t>
            </a:r>
            <a:r>
              <a:rPr lang="en-US" i="1" dirty="0"/>
              <a:t>On Governors </a:t>
            </a:r>
            <a:r>
              <a:rPr lang="en-US" dirty="0"/>
              <a:t>as the birth of control theory.</a:t>
            </a:r>
          </a:p>
          <a:p>
            <a:pPr lvl="1"/>
            <a:r>
              <a:rPr lang="en-US" i="1" dirty="0"/>
              <a:t>On Governors</a:t>
            </a:r>
            <a:r>
              <a:rPr lang="en-US" dirty="0"/>
              <a:t> (1868) </a:t>
            </a:r>
          </a:p>
          <a:p>
            <a:r>
              <a:rPr lang="en-US" b="1" dirty="0"/>
              <a:t>Peirce</a:t>
            </a:r>
            <a:r>
              <a:rPr lang="en-US" dirty="0"/>
              <a:t>: Truth as the stable outcome of inquiry.</a:t>
            </a:r>
          </a:p>
          <a:p>
            <a:pPr lvl="1"/>
            <a:r>
              <a:rPr lang="en-US" dirty="0"/>
              <a:t>“How to Make Our Ideas Clear,” </a:t>
            </a:r>
            <a:r>
              <a:rPr lang="en-US" i="1" dirty="0"/>
              <a:t>Popular Science Monthly </a:t>
            </a:r>
            <a:r>
              <a:rPr lang="en-US" dirty="0"/>
              <a:t>(1878).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441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281D-B01E-AD92-28C0-2C740D3D3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7F045-CB7C-F95C-EBFE-A1ABDF8CA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3021" cy="4351338"/>
          </a:xfrm>
        </p:spPr>
        <p:txBody>
          <a:bodyPr/>
          <a:lstStyle/>
          <a:p>
            <a:r>
              <a:rPr lang="en-US" dirty="0"/>
              <a:t>“You know, nature does not contradict itself.” - Viktor </a:t>
            </a:r>
            <a:r>
              <a:rPr lang="en-US" dirty="0" err="1"/>
              <a:t>Blåsjö</a:t>
            </a:r>
            <a:endParaRPr lang="en-US" dirty="0"/>
          </a:p>
          <a:p>
            <a:r>
              <a:rPr lang="en-US" dirty="0"/>
              <a:t>Don’t fear being wrong, fear not being informative.</a:t>
            </a:r>
          </a:p>
          <a:p>
            <a:r>
              <a:rPr lang="en-US" dirty="0"/>
              <a:t>Error is acceptable; fragility is not.</a:t>
            </a:r>
          </a:p>
          <a:p>
            <a:r>
              <a:rPr lang="en-US" dirty="0"/>
              <a:t>Belief insists. Truth persists.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057CC0-9E13-492C-8DA9-8812E7289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221" y="439477"/>
            <a:ext cx="4792579" cy="597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35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26617-1203-8F22-E25A-519F9AAE9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and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50F85-F5C2-CD01-07A4-0D5BC6BAA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Thoughts? </a:t>
            </a:r>
          </a:p>
          <a:p>
            <a:r>
              <a:rPr lang="en-US" dirty="0"/>
              <a:t>Comments? </a:t>
            </a:r>
          </a:p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128995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5467</TotalTime>
  <Words>1572</Words>
  <Application>Microsoft Office PowerPoint</Application>
  <PresentationFormat>Widescreen</PresentationFormat>
  <Paragraphs>315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Office Theme</vt:lpstr>
      <vt:lpstr>Inferential Dynamics Truth as a Stable Attractor of Reason</vt:lpstr>
      <vt:lpstr>Outline</vt:lpstr>
      <vt:lpstr>PowerPoint Presentation</vt:lpstr>
      <vt:lpstr>Motion</vt:lpstr>
      <vt:lpstr>Stability</vt:lpstr>
      <vt:lpstr>Feedback</vt:lpstr>
      <vt:lpstr>Examples of Feedback Systems</vt:lpstr>
      <vt:lpstr>Examples of Feedback Systems</vt:lpstr>
      <vt:lpstr>Examples of Feedback Systems</vt:lpstr>
      <vt:lpstr>Mathematics of Stability</vt:lpstr>
      <vt:lpstr>Mathematics of Stability</vt:lpstr>
      <vt:lpstr>Mathematics of Stability</vt:lpstr>
      <vt:lpstr>Visualizing Stability</vt:lpstr>
      <vt:lpstr>Language of Stability</vt:lpstr>
      <vt:lpstr>Language of Stability</vt:lpstr>
      <vt:lpstr>Four Modes of Motion</vt:lpstr>
      <vt:lpstr>Four Modes of Inference</vt:lpstr>
      <vt:lpstr>Comparing Modes of Inference</vt:lpstr>
      <vt:lpstr>Inference Matrix</vt:lpstr>
      <vt:lpstr>Inference as a Dynamic System</vt:lpstr>
      <vt:lpstr>Inference as a Dynamic System</vt:lpstr>
      <vt:lpstr>PowerPoint Presentation</vt:lpstr>
      <vt:lpstr>Inference as a Dynamic System</vt:lpstr>
      <vt:lpstr>Truth as the Stable Attractor of Reasoning</vt:lpstr>
      <vt:lpstr>Geometry of Inference</vt:lpstr>
      <vt:lpstr>Line of Reasoning and Critical Path</vt:lpstr>
      <vt:lpstr>Summary</vt:lpstr>
      <vt:lpstr>Historical Anchors</vt:lpstr>
      <vt:lpstr>Conclusion</vt:lpstr>
      <vt:lpstr>Discussion and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Inferential Dynamics Truth as a Stable Attractor of Reason</dc:title>
  <dc:creator>Cole Prather</dc:creator>
  <cp:lastModifiedBy>Cole Prather</cp:lastModifiedBy>
  <cp:revision>303</cp:revision>
  <dcterms:created xsi:type="dcterms:W3CDTF">2025-09-28T03:23:14Z</dcterms:created>
  <dcterms:modified xsi:type="dcterms:W3CDTF">2025-10-11T16:17:49Z</dcterms:modified>
</cp:coreProperties>
</file>